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3"/>
    <p:sldId id="303" r:id="rId4"/>
    <p:sldId id="294" r:id="rId5"/>
    <p:sldId id="296" r:id="rId6"/>
    <p:sldId id="268" r:id="rId7"/>
    <p:sldId id="266" r:id="rId8"/>
    <p:sldId id="302" r:id="rId9"/>
    <p:sldId id="276" r:id="rId10"/>
    <p:sldId id="275" r:id="rId11"/>
    <p:sldId id="297" r:id="rId12"/>
    <p:sldId id="284" r:id="rId13"/>
    <p:sldId id="304" r:id="rId14"/>
    <p:sldId id="305" r:id="rId15"/>
    <p:sldId id="286" r:id="rId16"/>
    <p:sldId id="306" r:id="rId17"/>
    <p:sldId id="287" r:id="rId18"/>
    <p:sldId id="272" r:id="rId19"/>
    <p:sldId id="307" r:id="rId20"/>
    <p:sldId id="298" r:id="rId21"/>
    <p:sldId id="308" r:id="rId22"/>
    <p:sldId id="299" r:id="rId23"/>
    <p:sldId id="300" r:id="rId24"/>
    <p:sldId id="301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1" userDrawn="1">
          <p15:clr>
            <a:srgbClr val="A4A3A4"/>
          </p15:clr>
        </p15:guide>
        <p15:guide id="2" pos="34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774" y="426"/>
      </p:cViewPr>
      <p:guideLst>
        <p:guide orient="horz" pos="2091"/>
        <p:guide pos="34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0640E-7F77-404A-BCA5-0F921D194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4F308-7D3B-4DDA-B27A-D0BD5340EB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tags" Target="../tags/tag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天空, 自然, 户外, 山&#10;&#10;描述已自动生成"/>
          <p:cNvPicPr>
            <a:picLocks noChangeAspect="1"/>
          </p:cNvPicPr>
          <p:nvPr/>
        </p:nvPicPr>
        <p:blipFill rotWithShape="1">
          <a:blip r:embed="rId1" cstate="screen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>
            <a:off x="4596765" y="1790700"/>
            <a:ext cx="7595235" cy="320040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41875" y="3007043"/>
            <a:ext cx="7239635" cy="7683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日常会話</a:t>
            </a:r>
            <a:r>
              <a:rPr lang="ja-JP" altLang="en-US" sz="4400" dirty="0"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・アイスブレイク</a:t>
            </a:r>
            <a:endParaRPr lang="ja-JP" altLang="en-US" sz="4400" dirty="0">
              <a:latin typeface="微软雅黑" panose="020B0503020204020204" charset="-122"/>
              <a:ea typeface="微软雅黑" panose="020B0503020204020204" charset="-122"/>
              <a:cs typeface="阿里巴巴和七个小矮人" panose="00000500000000000000" charset="-122"/>
              <a:sym typeface="方正宝黑体 简 Light" panose="0200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1890" y="3919855"/>
            <a:ext cx="4582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方正超值体 简 Light" panose="02010600010101010101" charset="-122"/>
                <a:cs typeface="Arial" panose="020B0604020202020204" pitchFamily="34" charset="0"/>
                <a:sym typeface="方正宝黑体 简 Light" panose="02000400000000000000" charset="-122"/>
              </a:rPr>
              <a:t>Daily Conversation: Icebreaking</a:t>
            </a:r>
            <a:endParaRPr lang="en-US" altLang="zh-CN" sz="2400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方正超值体 简 Light" panose="02010600010101010101" charset="-122"/>
              <a:cs typeface="Arial" panose="020B0604020202020204" pitchFamily="34" charset="0"/>
              <a:sym typeface="方正宝黑体 简 Light" panose="0200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75530" y="2155825"/>
            <a:ext cx="33108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日本語</a:t>
            </a:r>
            <a:r>
              <a:rPr lang="ja-JP" altLang="en-US" sz="4000">
                <a:latin typeface="微软雅黑" panose="020B0503020204020204" charset="-122"/>
                <a:ea typeface="微软雅黑" panose="020B0503020204020204" charset="-122"/>
              </a:rPr>
              <a:t>の</a:t>
            </a:r>
            <a:endParaRPr lang="ja-JP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天空, 自然, 户外, 山&#10;&#10;描述已自动生成"/>
          <p:cNvPicPr>
            <a:picLocks noChangeAspect="1"/>
          </p:cNvPicPr>
          <p:nvPr/>
        </p:nvPicPr>
        <p:blipFill rotWithShape="1">
          <a:blip r:embed="rId1" cstate="screen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>
            <a:off x="0" y="772160"/>
            <a:ext cx="10970895" cy="5371465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85750" y="1036320"/>
            <a:ext cx="66084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方正超值体 简 Light" panose="02010600010101010101" charset="-122"/>
              </a:rPr>
              <a:t>自己紹介</a:t>
            </a:r>
            <a:r>
              <a:rPr lang="zh-CN" altLang="en-US" sz="3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方正超值体 简 Light" panose="02010600010101010101" charset="-122"/>
              </a:rPr>
              <a:t>（</a:t>
            </a:r>
            <a:r>
              <a:rPr lang="ja-JP" altLang="en-US" sz="3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方正超值体 简 Light" panose="02010600010101010101" charset="-122"/>
              </a:rPr>
              <a:t>じこしょうかい</a:t>
            </a:r>
            <a:r>
              <a:rPr lang="zh-CN" altLang="en-US" sz="3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方正超值体 简 Light" panose="02010600010101010101" charset="-122"/>
              </a:rPr>
              <a:t>）</a:t>
            </a:r>
            <a:endParaRPr lang="zh-CN" altLang="en-US" sz="36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方正超值体 简 Light" panose="02010600010101010101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436776" y="1828990"/>
            <a:ext cx="6619240" cy="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94385" y="2235835"/>
            <a:ext cx="938212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初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はじ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めまして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、石头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いしあたま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です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バングラデシュから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き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ました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今年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ことし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)9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くがつ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に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日本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にほん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に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き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て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、今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いま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は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京都情報大学院大学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きょうとじょうほうだいがくいんだいがく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の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留学生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りゅうがくせい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です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日本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にほん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の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気温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きおん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は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私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わたし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の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国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くに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より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寒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い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さむ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い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です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。旅行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りょこう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が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好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す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きです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en-US" altLang="ja-JP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よろしくお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願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ねが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いします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天空, 自然, 户外, 山&#10;&#10;描述已自动生成"/>
          <p:cNvPicPr>
            <a:picLocks noChangeAspect="1"/>
          </p:cNvPicPr>
          <p:nvPr/>
        </p:nvPicPr>
        <p:blipFill rotWithShape="1">
          <a:blip r:embed="rId1" cstate="screen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>
            <a:off x="0" y="772160"/>
            <a:ext cx="10970895" cy="5371465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85750" y="1035050"/>
            <a:ext cx="47491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dirty="0">
                <a:latin typeface="站酷文艺体" panose="02000603000000000000" pitchFamily="2" charset="-122"/>
                <a:ea typeface="站酷文艺体" panose="02000603000000000000" pitchFamily="2" charset="-122"/>
                <a:cs typeface="方正超值体 简 Light" panose="02010600010101010101" charset="-122"/>
              </a:rPr>
              <a:t>Self-introduction</a:t>
            </a:r>
            <a:endParaRPr lang="en-US" altLang="zh-CN" sz="4800" dirty="0">
              <a:latin typeface="站酷文艺体" panose="02000603000000000000" pitchFamily="2" charset="-122"/>
              <a:ea typeface="站酷文艺体" panose="02000603000000000000" pitchFamily="2" charset="-122"/>
              <a:cs typeface="方正超值体 简 Light" panose="02010600010101010101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436776" y="1909635"/>
            <a:ext cx="4734560" cy="10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94385" y="2177415"/>
            <a:ext cx="923417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</a:t>
            </a:r>
            <a:r>
              <a:rPr lang="en-US" altLang="zh-CN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Nice to meet you. My name is Shitou. I’m from Bangladesh.</a:t>
            </a:r>
            <a:endParaRPr lang="en-US" altLang="zh-CN" sz="2800" i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I came to Japan in September this year, and I am currently an international student at the Kyoto College of Graduate Studies for Informatics.</a:t>
            </a:r>
            <a:endParaRPr lang="en-US" altLang="zh-CN" sz="2800" i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The temperature in Japan is colder than in our country. I like traveling.</a:t>
            </a:r>
            <a:endParaRPr lang="en-US" altLang="zh-CN" sz="2800" i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l"/>
            <a:r>
              <a:rPr lang="en-US" altLang="zh-CN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I would appreciate your help.</a:t>
            </a:r>
            <a:endParaRPr lang="en-US" altLang="zh-CN" sz="2800" i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天空, 自然, 户外, 山&#10;&#10;描述已自动生成"/>
          <p:cNvPicPr>
            <a:picLocks noChangeAspect="1"/>
          </p:cNvPicPr>
          <p:nvPr/>
        </p:nvPicPr>
        <p:blipFill rotWithShape="1">
          <a:blip r:embed="rId1" cstate="screen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>
            <a:off x="0" y="1752600"/>
            <a:ext cx="7829550" cy="346710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211789" y="2472837"/>
            <a:ext cx="5581878" cy="2026626"/>
            <a:chOff x="1211789" y="2304111"/>
            <a:chExt cx="5581878" cy="2026626"/>
          </a:xfrm>
        </p:grpSpPr>
        <p:grpSp>
          <p:nvGrpSpPr>
            <p:cNvPr id="2" name="组合 1"/>
            <p:cNvGrpSpPr/>
            <p:nvPr/>
          </p:nvGrpSpPr>
          <p:grpSpPr>
            <a:xfrm>
              <a:off x="1211789" y="2304111"/>
              <a:ext cx="1508046" cy="2026626"/>
              <a:chOff x="1211789" y="2062964"/>
              <a:chExt cx="1508046" cy="2026626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1211789" y="2062964"/>
                <a:ext cx="150804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9600" dirty="0">
                    <a:latin typeface="方正正黑_GBK" panose="02000000000000000000" charset="-122"/>
                    <a:ea typeface="方正正黑_GBK" panose="02000000000000000000" charset="-122"/>
                    <a:cs typeface="方正超值体 简 Light" panose="02010600010101010101" charset="-122"/>
                  </a:rPr>
                  <a:t>01</a:t>
                </a:r>
                <a:endParaRPr lang="zh-CN" altLang="en-US" sz="9600" dirty="0">
                  <a:latin typeface="方正正黑_GBK" panose="02000000000000000000" charset="-122"/>
                  <a:ea typeface="方正正黑_GBK" panose="02000000000000000000" charset="-122"/>
                  <a:cs typeface="方正超值体 简 Light" panose="02010600010101010101" charset="-122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1386335" y="3632624"/>
                <a:ext cx="1257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1393238" y="3751044"/>
                <a:ext cx="1243494" cy="338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600" dirty="0">
                    <a:latin typeface="方正超值体 简 Light" panose="02010600010101010101" charset="-122"/>
                    <a:ea typeface="方正超值体 简 Light" panose="02010600010101010101" charset="-122"/>
                    <a:cs typeface="方正超值体 简 Light" panose="02010600010101010101" charset="-122"/>
                  </a:rPr>
                  <a:t>ONE</a:t>
                </a:r>
                <a:endParaRPr lang="zh-CN" altLang="en-US" sz="1600" dirty="0">
                  <a:latin typeface="方正超值体 简 Light" panose="02010600010101010101" charset="-122"/>
                  <a:ea typeface="方正超值体 简 Light" panose="02010600010101010101" charset="-122"/>
                  <a:cs typeface="方正超值体 简 Light" panose="02010600010101010101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348157" y="2574367"/>
              <a:ext cx="3445510" cy="1504315"/>
              <a:chOff x="4674963" y="1070412"/>
              <a:chExt cx="3445510" cy="1504315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4674963" y="1070412"/>
                <a:ext cx="3146345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dirty="0">
                    <a:latin typeface="Segoe UI" panose="020B0502040204020203" charset="0"/>
                    <a:ea typeface="黑体" panose="02010609060101010101" charset="-122"/>
                    <a:cs typeface="阿里巴巴和七个小矮人" panose="00000500000000000000" charset="-122"/>
                  </a:rPr>
                  <a:t>語彙</a:t>
                </a:r>
                <a:r>
                  <a:rPr lang="ja-JP" altLang="en-US" sz="4400" dirty="0">
                    <a:latin typeface="Segoe UI" panose="020B0502040204020203" charset="0"/>
                    <a:ea typeface="黑体" panose="02010609060101010101" charset="-122"/>
                    <a:cs typeface="阿里巴巴和七个小矮人" panose="00000500000000000000" charset="-122"/>
                  </a:rPr>
                  <a:t>の</a:t>
                </a:r>
                <a:r>
                  <a:rPr lang="zh-CN" altLang="en-US" sz="4400" dirty="0">
                    <a:latin typeface="Segoe UI" panose="020B0502040204020203" charset="0"/>
                    <a:ea typeface="黑体" panose="02010609060101010101" charset="-122"/>
                    <a:cs typeface="阿里巴巴和七个小矮人" panose="00000500000000000000" charset="-122"/>
                  </a:rPr>
                  <a:t>復習</a:t>
                </a:r>
                <a:endParaRPr lang="zh-CN" altLang="en-US" sz="4400" dirty="0">
                  <a:latin typeface="Segoe UI" panose="020B0502040204020203" charset="0"/>
                  <a:ea typeface="黑体" panose="02010609060101010101" charset="-122"/>
                  <a:cs typeface="阿里巴巴和七个小矮人" panose="00000500000000000000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751163" y="1993067"/>
                <a:ext cx="3369310" cy="5816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000" i="1" spc="3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charset="0"/>
                    <a:ea typeface="方正超值体 简 Light" panose="02010600010101010101" charset="-122"/>
                    <a:cs typeface="Segoe UI" panose="020B0502040204020203" charset="0"/>
                  </a:rPr>
                  <a:t>Vocabulary review</a:t>
                </a:r>
                <a:endParaRPr lang="en-US" altLang="zh-CN" sz="2000" i="1" spc="3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charset="0"/>
                  <a:ea typeface="方正超值体 简 Light" panose="02010600010101010101" charset="-122"/>
                  <a:cs typeface="Segoe UI" panose="020B0502040204020203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0" y="4377690"/>
            <a:ext cx="6758305" cy="2480310"/>
          </a:xfrm>
          <a:prstGeom prst="roundRect">
            <a:avLst>
              <a:gd name="adj" fmla="val 0"/>
            </a:avLst>
          </a:prstGeom>
          <a:blipFill>
            <a:blip r:embed="rId1" cstate="screen">
              <a:alphaModFix amt="36000"/>
            </a:blip>
            <a:srcRect/>
            <a:stretch>
              <a:fillRect t="-37728" b="-3772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530475" y="707390"/>
            <a:ext cx="6821805" cy="78803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l"/>
            <a:r>
              <a:rPr lang="ja-JP" altLang="en-US" sz="3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どこから</a:t>
            </a:r>
            <a:r>
              <a:rPr lang="zh-CN" altLang="en-US" sz="3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来</a:t>
            </a:r>
            <a:r>
              <a:rPr lang="ja-JP" altLang="en-US" sz="3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ましたか</a:t>
            </a:r>
            <a:r>
              <a:rPr lang="zh-CN" altLang="ja-JP" sz="3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。</a:t>
            </a:r>
            <a:r>
              <a:rPr lang="en-US" altLang="zh-CN" sz="3600" i="1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Where are you from?</a:t>
            </a:r>
            <a:endParaRPr lang="en-US" altLang="zh-CN" sz="3600" i="1" dirty="0">
              <a:solidFill>
                <a:schemeClr val="tx1"/>
              </a:solidFill>
              <a:highlight>
                <a:srgbClr val="FFFF00"/>
              </a:highlight>
              <a:latin typeface="站酷文艺体" panose="02000603000000000000" pitchFamily="2" charset="-122"/>
              <a:ea typeface="站酷文艺体" panose="02000603000000000000" pitchFamily="2" charset="-122"/>
              <a:cs typeface="阿里巴巴和七个小矮人" panose="00000500000000000000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037715" y="1645285"/>
            <a:ext cx="11057890" cy="2188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dirty="0">
                <a:latin typeface="Segoe UI" panose="020B0502040204020203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バングラデシュ</a:t>
            </a:r>
            <a:r>
              <a:rPr lang="en-US" altLang="ja-JP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ja-JP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/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Bangladesh</a:t>
            </a:r>
            <a:r>
              <a:rPr lang="en-US" altLang="ja-JP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ja-JP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      </a:t>
            </a:r>
            <a:r>
              <a:rPr lang="ja-JP" altLang="en-US" sz="2800" dirty="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ネパール</a:t>
            </a:r>
            <a:r>
              <a:rPr lang="en-US" altLang="ja-JP" sz="2000" b="1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/  Nepal</a:t>
            </a:r>
            <a:r>
              <a:rPr lang="en-US" altLang="ja-JP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</a:t>
            </a:r>
            <a:r>
              <a:rPr lang="en-US" altLang="ja-JP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 </a:t>
            </a:r>
            <a:endParaRPr lang="en-US" altLang="ja-JP" sz="2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ja-JP" altLang="en-US" sz="2800" dirty="0">
                <a:latin typeface="Arial" panose="020B0604020202020204" pitchFamily="34" charset="0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ベトナム</a:t>
            </a:r>
            <a:r>
              <a:rPr lang="en-US" altLang="ja-JP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 </a:t>
            </a:r>
            <a:r>
              <a:rPr lang="en-US" altLang="zh-CN" sz="20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/ 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Vietnam   </a:t>
            </a:r>
            <a:r>
              <a:rPr lang="en-US" altLang="zh-CN" sz="28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                  </a:t>
            </a:r>
            <a:r>
              <a:rPr lang="ja-JP" altLang="en-US" sz="2800" dirty="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マレーシア</a:t>
            </a:r>
            <a:r>
              <a:rPr lang="en-US" altLang="ja-JP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zh-CN" altLang="en-US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／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Malaysia </a:t>
            </a:r>
            <a:endParaRPr lang="en-US" altLang="zh-CN" sz="2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中国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ちゅうごく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 </a:t>
            </a:r>
            <a:r>
              <a:rPr lang="en-US" altLang="zh-CN" sz="20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／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China 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      </a:t>
            </a:r>
            <a:r>
              <a:rPr lang="ja-JP" altLang="en-US" sz="2800" dirty="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フィリピン</a:t>
            </a:r>
            <a:r>
              <a:rPr lang="en-US" altLang="ja-JP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zh-CN" altLang="en-US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／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the Philippines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endParaRPr lang="en-US" altLang="zh-CN" sz="2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日本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にほん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/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Japan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              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韓国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かんこく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en-US" altLang="zh-CN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zh-CN" altLang="en-US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／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South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Korea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  </a:t>
            </a:r>
            <a:endParaRPr lang="en-US" altLang="zh-CN" sz="2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758305" y="4242435"/>
            <a:ext cx="5295900" cy="2297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dirty="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アメリカ</a:t>
            </a:r>
            <a:r>
              <a:rPr lang="en-US" altLang="ja-JP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zh-CN" altLang="en-US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／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the United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States 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  </a:t>
            </a:r>
            <a:endParaRPr lang="en-US" altLang="zh-CN" sz="2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ja-JP" altLang="en-US" sz="2800" dirty="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オーストラリア</a:t>
            </a:r>
            <a:r>
              <a:rPr lang="en-US" altLang="ja-JP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ja-JP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/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Australia </a:t>
            </a: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  </a:t>
            </a:r>
            <a:endParaRPr lang="en-US" altLang="zh-CN" sz="2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ja-JP" altLang="en-US" sz="2800" dirty="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イギリス</a:t>
            </a:r>
            <a:r>
              <a:rPr lang="en-US" altLang="ja-JP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ja-JP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/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the United Kingdom</a:t>
            </a:r>
            <a:endParaRPr lang="en-US" altLang="zh-CN" sz="2000" i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93560" y="578485"/>
            <a:ext cx="3517900" cy="435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800" b="1" i="1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图片 4" descr="73d4d50a98c83d6e2d2f2ef8331d5b3a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61925" y="-401955"/>
            <a:ext cx="2315210" cy="2404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a3f13210d6924fcc9fcc78520be00255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9508490" y="-553085"/>
            <a:ext cx="3159125" cy="3188970"/>
          </a:xfrm>
          <a:prstGeom prst="rect">
            <a:avLst/>
          </a:prstGeom>
        </p:spPr>
      </p:pic>
      <p:sp>
        <p:nvSpPr>
          <p:cNvPr id="45" name="矩形: 圆角 44"/>
          <p:cNvSpPr/>
          <p:nvPr/>
        </p:nvSpPr>
        <p:spPr>
          <a:xfrm>
            <a:off x="0" y="509270"/>
            <a:ext cx="3713480" cy="5641975"/>
          </a:xfrm>
          <a:prstGeom prst="roundRect">
            <a:avLst>
              <a:gd name="adj" fmla="val 0"/>
            </a:avLst>
          </a:prstGeom>
          <a:blipFill>
            <a:blip r:embed="rId2" cstate="screen">
              <a:alphaModFix amt="48000"/>
            </a:blip>
            <a:srcRect/>
            <a:stretch>
              <a:fillRect t="-1041" b="-104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4164965" y="408305"/>
            <a:ext cx="5113655" cy="12357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ja-JP" altLang="en-US" sz="36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いつ</a:t>
            </a:r>
            <a:r>
              <a:rPr lang="zh-CN" altLang="en-US" sz="36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日本</a:t>
            </a:r>
            <a:r>
              <a:rPr lang="ja-JP" altLang="en-US" sz="36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に</a:t>
            </a:r>
            <a:r>
              <a:rPr lang="zh-CN" altLang="en-US" sz="36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来</a:t>
            </a:r>
            <a:r>
              <a:rPr lang="ja-JP" altLang="en-US" sz="36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ましたか</a:t>
            </a:r>
            <a:r>
              <a:rPr lang="zh-CN" altLang="ja-JP" sz="3600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。</a:t>
            </a:r>
            <a:endParaRPr lang="zh-CN" altLang="en-US" sz="3600" dirty="0">
              <a:latin typeface="站酷文艺体" panose="02000603000000000000" pitchFamily="2" charset="-122"/>
              <a:ea typeface="站酷文艺体" panose="02000603000000000000" pitchFamily="2" charset="-122"/>
              <a:cs typeface="阿里巴巴和七个小矮人" panose="00000500000000000000" charset="-122"/>
              <a:sym typeface="方正宝黑体 简 Light" panose="02000400000000000000" charset="-122"/>
            </a:endParaRPr>
          </a:p>
          <a:p>
            <a:r>
              <a:rPr lang="en-US" altLang="zh-CN" sz="2800" i="1" dirty="0">
                <a:latin typeface="Segoe UI" panose="020B0502040204020203" charset="0"/>
                <a:ea typeface="站酷文艺体" panose="02000603000000000000" pitchFamily="2" charset="-122"/>
                <a:cs typeface="Segoe UI" panose="020B0502040204020203" charset="0"/>
                <a:sym typeface="方正宝黑体 简 Light" panose="02000400000000000000" charset="-122"/>
              </a:rPr>
              <a:t>When did you come to Japan?    </a:t>
            </a:r>
            <a:endParaRPr lang="en-US" altLang="zh-CN" sz="2800" i="1" dirty="0">
              <a:latin typeface="Segoe UI" panose="020B0502040204020203" charset="0"/>
              <a:ea typeface="站酷文艺体" panose="02000603000000000000" pitchFamily="2" charset="-122"/>
              <a:cs typeface="Segoe UI" panose="020B0502040204020203" charset="0"/>
              <a:sym typeface="方正宝黑体 简 Light" panose="02000400000000000000" charset="-122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3220085" y="312420"/>
            <a:ext cx="6614795" cy="1433195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872230" y="2048510"/>
            <a:ext cx="3303905" cy="4215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去年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きょねん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 last year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今年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ことし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 this year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来年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らいねん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next year</a:t>
            </a:r>
            <a:endParaRPr lang="zh-CN" altLang="en-US" sz="1600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三月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さんがつ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 March</a:t>
            </a:r>
            <a:endParaRPr lang="en-US" altLang="zh-CN" sz="1600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四月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しがつ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 April</a:t>
            </a:r>
            <a:endParaRPr lang="en-US" altLang="zh-CN" sz="1600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九月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くがつ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 September</a:t>
            </a:r>
            <a:endParaRPr lang="en-US" altLang="zh-CN" sz="1600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十月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じゅうがつ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October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76135" y="2048510"/>
            <a:ext cx="5015230" cy="4215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上周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せんしゅう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last week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这周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こんしゅう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  / this week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下周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らいしゅう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next week</a:t>
            </a:r>
            <a:endParaRPr lang="en-US" altLang="zh-CN" sz="1600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昨日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きのう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yesterday</a:t>
            </a:r>
            <a:endParaRPr lang="en-US" altLang="zh-CN" sz="1600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今日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きょう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  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/ today</a:t>
            </a:r>
            <a:endParaRPr lang="en-US" altLang="zh-CN" sz="1600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明日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あした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  / tomorrow</a:t>
            </a:r>
            <a:endParaRPr lang="en-US" altLang="zh-CN" sz="1600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明後日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(</a:t>
            </a:r>
            <a:r>
              <a:rPr lang="ja-JP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あさって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)</a:t>
            </a:r>
            <a:r>
              <a:rPr lang="en-US" altLang="zh-CN" sz="16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方正宝黑体 简 Light" panose="02000400000000000000" charset="-122"/>
              </a:rPr>
              <a:t>  / the day after tomorrow</a:t>
            </a:r>
            <a:endParaRPr lang="en-US" altLang="zh-CN" sz="1600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方正宝黑体 简 Light" panose="0200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4dac8a65ba1603592fe62dc90ed417"/>
          <p:cNvPicPr>
            <a:picLocks noChangeAspect="1"/>
          </p:cNvPicPr>
          <p:nvPr/>
        </p:nvPicPr>
        <p:blipFill>
          <a:blip r:embed="rId1">
            <a:alphaModFix amt="60000"/>
          </a:blip>
          <a:srcRect l="4338" t="3865" r="7494" b="1439"/>
          <a:stretch>
            <a:fillRect/>
          </a:stretch>
        </p:blipFill>
        <p:spPr>
          <a:xfrm>
            <a:off x="6096000" y="2353945"/>
            <a:ext cx="2984500" cy="320548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4942840" y="1085215"/>
            <a:ext cx="6377305" cy="78803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l"/>
            <a:r>
              <a:rPr lang="zh-CN" altLang="en-US" sz="3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日本</a:t>
            </a:r>
            <a:r>
              <a:rPr lang="ja-JP" altLang="en-US" sz="3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はどうですか</a:t>
            </a:r>
            <a:r>
              <a:rPr lang="zh-CN" altLang="ja-JP" sz="3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。</a:t>
            </a:r>
            <a:endParaRPr lang="zh-CN" altLang="ja-JP" sz="36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阿里巴巴和七个小矮人" panose="00000500000000000000" charset="-122"/>
              <a:sym typeface="方正宝黑体 简 Light" panose="02000400000000000000" charset="-122"/>
            </a:endParaRPr>
          </a:p>
          <a:p>
            <a:pPr algn="l"/>
            <a:r>
              <a:rPr lang="en-US" altLang="zh-CN" sz="3600" dirty="0">
                <a:solidFill>
                  <a:schemeClr val="tx1"/>
                </a:solidFill>
                <a:highlight>
                  <a:srgbClr val="FFFF00"/>
                </a:highlight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How is Japan</a:t>
            </a:r>
            <a:r>
              <a:rPr lang="en-US" altLang="zh-CN" sz="3600" dirty="0">
                <a:highlight>
                  <a:srgbClr val="FFFF00"/>
                </a:highlight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?</a:t>
            </a:r>
            <a:r>
              <a:rPr lang="en-US" altLang="zh-CN" sz="3600" dirty="0">
                <a:solidFill>
                  <a:srgbClr val="FFFF00"/>
                </a:solidFill>
                <a:highlight>
                  <a:srgbClr val="FFFF00"/>
                </a:highlight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.............</a:t>
            </a:r>
            <a:r>
              <a:rPr lang="en-US" altLang="zh-CN" sz="3600" dirty="0">
                <a:solidFill>
                  <a:schemeClr val="tx1"/>
                </a:solidFill>
                <a:highlight>
                  <a:srgbClr val="FFFF00"/>
                </a:highlight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           </a:t>
            </a:r>
            <a:endParaRPr lang="en-US" altLang="zh-CN" sz="3600" dirty="0">
              <a:solidFill>
                <a:schemeClr val="tx1"/>
              </a:solidFill>
              <a:highlight>
                <a:srgbClr val="FFFF00"/>
              </a:highlight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342390" y="1085215"/>
            <a:ext cx="5216525" cy="5582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果物（</a:t>
            </a:r>
            <a:r>
              <a:rPr lang="ja-JP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くだもの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）</a:t>
            </a:r>
            <a:r>
              <a:rPr lang="en-US" altLang="zh-CN" sz="20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/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fruit</a:t>
            </a:r>
            <a:endParaRPr lang="en-US" altLang="zh-CN" sz="2000" i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魚（</a:t>
            </a:r>
            <a:r>
              <a:rPr lang="ja-JP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さかな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）</a:t>
            </a:r>
            <a:r>
              <a:rPr lang="en-US" altLang="zh-CN" sz="20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/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fish</a:t>
            </a:r>
            <a:endParaRPr lang="en-US" altLang="zh-CN" sz="2000" i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森（</a:t>
            </a:r>
            <a:r>
              <a:rPr lang="ja-JP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もり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）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/ 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forest</a:t>
            </a:r>
            <a:endParaRPr lang="en-US" altLang="zh-CN" sz="2400" i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物価（</a:t>
            </a:r>
            <a:r>
              <a:rPr lang="ja-JP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ぶっか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）</a:t>
            </a:r>
            <a:r>
              <a:rPr lang="en-US" altLang="zh-CN" sz="20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/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cost of goods</a:t>
            </a:r>
            <a:endParaRPr lang="en-US" altLang="zh-CN" sz="2000" i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生活費（</a:t>
            </a:r>
            <a:r>
              <a:rPr lang="ja-JP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せいかつひ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）</a:t>
            </a:r>
            <a:r>
              <a:rPr lang="en-US" altLang="zh-CN" sz="20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/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living expenses</a:t>
            </a:r>
            <a:endParaRPr lang="en-US" altLang="zh-CN" sz="20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気温（</a:t>
            </a:r>
            <a:r>
              <a:rPr lang="ja-JP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きおん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）</a:t>
            </a:r>
            <a:r>
              <a:rPr lang="en-US" altLang="zh-CN" sz="20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/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temperature</a:t>
            </a:r>
            <a:endParaRPr lang="en-US" altLang="zh-CN" sz="2000" i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人（</a:t>
            </a:r>
            <a:r>
              <a:rPr lang="ja-JP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ひと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）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/ </a:t>
            </a:r>
            <a:r>
              <a:rPr lang="en-US" altLang="zh-CN" sz="24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people</a:t>
            </a:r>
            <a:endParaRPr lang="en-US" altLang="zh-CN" sz="2400" i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雨（</a:t>
            </a:r>
            <a:r>
              <a:rPr lang="ja-JP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あめ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）</a:t>
            </a:r>
            <a:r>
              <a:rPr lang="en-US" altLang="zh-CN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/ rain</a:t>
            </a:r>
            <a:endParaRPr lang="en-US" altLang="zh-CN" sz="24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電車（</a:t>
            </a:r>
            <a:r>
              <a:rPr lang="ja-JP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でんしゃ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）</a:t>
            </a:r>
            <a:r>
              <a:rPr lang="en-US" altLang="zh-CN" sz="2000" i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方正宝黑体 简 Light" panose="02000400000000000000" charset="-122"/>
              </a:rPr>
              <a:t> / train</a:t>
            </a:r>
            <a:endParaRPr lang="en-US" altLang="zh-CN" sz="2000" i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方正宝黑体 简 Light" panose="02000400000000000000" charset="-122"/>
            </a:endParaRPr>
          </a:p>
        </p:txBody>
      </p:sp>
      <p:sp>
        <p:nvSpPr>
          <p:cNvPr id="4" name="任意多边形: 形状 1"/>
          <p:cNvSpPr/>
          <p:nvPr>
            <p:custDataLst>
              <p:tags r:id="rId2"/>
            </p:custDataLst>
          </p:nvPr>
        </p:nvSpPr>
        <p:spPr>
          <a:xfrm>
            <a:off x="8154035" y="3082925"/>
            <a:ext cx="3512185" cy="337185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screen">
              <a:alphaModFix amt="40000"/>
            </a:blip>
            <a:srcRect/>
            <a:stretch>
              <a:fillRect l="-13846" r="-138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034145" y="-71120"/>
            <a:ext cx="3157855" cy="3100070"/>
          </a:xfrm>
          <a:prstGeom prst="ellipse">
            <a:avLst/>
          </a:prstGeom>
          <a:blipFill>
            <a:blip r:embed="rId4" cstate="screen">
              <a:alphaModFix amt="65000"/>
            </a:blip>
            <a:srcRect/>
            <a:stretch>
              <a:fillRect l="-25465" r="-2453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" cstate="screen">
              <a:alphaModFix amt="67000"/>
            </a:blip>
            <a:srcRect/>
            <a:stretch>
              <a:fillRect l="-10857" r="-5757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63040" y="3012440"/>
            <a:ext cx="4633595" cy="330835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多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い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（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おおい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）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many, a lot</a:t>
            </a:r>
            <a:endParaRPr lang="en-US" altLang="zh-CN" sz="2200" i="1" dirty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少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ない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（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すくない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）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few, little</a:t>
            </a:r>
            <a:endParaRPr lang="en-US" altLang="zh-CN" sz="24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高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い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（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たかい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）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high, expensive</a:t>
            </a:r>
            <a:endParaRPr lang="en-US" altLang="zh-CN" sz="24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低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い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（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ひくい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）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low</a:t>
            </a:r>
            <a:endParaRPr lang="en-US" altLang="zh-CN" sz="2200" i="1" dirty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寒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さむ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い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cold</a:t>
            </a:r>
            <a:endParaRPr lang="en-US" altLang="zh-CN" sz="24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暑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あつ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い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hot</a:t>
            </a:r>
            <a:endParaRPr lang="en-US" altLang="zh-CN" sz="2200" i="1" dirty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方正宝黑体 简 Light" panose="02000400000000000000" charset="-122"/>
            </a:endParaRPr>
          </a:p>
        </p:txBody>
      </p:sp>
      <p:pic>
        <p:nvPicPr>
          <p:cNvPr id="8" name="图片 7" descr="da701ef27de5ba41512951c3b3ae0824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3515360" y="114935"/>
            <a:ext cx="2580640" cy="3041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3"/>
          <p:cNvSpPr/>
          <p:nvPr/>
        </p:nvSpPr>
        <p:spPr>
          <a:xfrm>
            <a:off x="5631815" y="873760"/>
            <a:ext cx="3493135" cy="284988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70E1F5">
                  <a:alpha val="0"/>
                </a:srgbClr>
              </a:gs>
              <a:gs pos="97000">
                <a:srgbClr val="FFD194"/>
              </a:gs>
            </a:gsLst>
            <a:path path="circle">
              <a:fillToRect l="100000" b="100000"/>
            </a:path>
            <a:tileRect t="-100000" r="-100000"/>
          </a:gra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734060" y="2161540"/>
            <a:ext cx="4278630" cy="2300605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99845" y="456565"/>
            <a:ext cx="5113655" cy="133667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zh-CN" altLang="en-US" sz="3600" dirty="0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阿里巴巴和七个小矮人" panose="00000500000000000000" charset="-122"/>
                <a:sym typeface="方正宝黑体 简 Light" panose="02000400000000000000" charset="-122"/>
              </a:rPr>
              <a:t>趣味</a:t>
            </a:r>
            <a:r>
              <a:rPr lang="ja-JP" altLang="en-US" sz="3600" dirty="0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は</a:t>
            </a:r>
            <a:r>
              <a:rPr lang="zh-CN" altLang="en-US" sz="3600" dirty="0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阿里巴巴和七个小矮人" panose="00000500000000000000" charset="-122"/>
                <a:sym typeface="方正宝黑体 简 Light" panose="02000400000000000000" charset="-122"/>
              </a:rPr>
              <a:t>何</a:t>
            </a:r>
            <a:r>
              <a:rPr lang="ja-JP" altLang="en-US" sz="3600" dirty="0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ですか</a:t>
            </a:r>
            <a:r>
              <a:rPr lang="zh-CN" altLang="ja-JP" sz="3600" dirty="0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阿里巴巴和七个小矮人" panose="00000500000000000000" charset="-122"/>
                <a:sym typeface="方正宝黑体 简 Light" panose="02000400000000000000" charset="-122"/>
              </a:rPr>
              <a:t>。</a:t>
            </a:r>
            <a:endParaRPr lang="ja-JP" altLang="en-US" sz="3600" dirty="0">
              <a:highlight>
                <a:srgbClr val="FFFF00"/>
              </a:highlight>
              <a:latin typeface="黑体" panose="02010609060101010101" charset="-122"/>
              <a:ea typeface="黑体" panose="02010609060101010101" charset="-122"/>
              <a:cs typeface="阿里巴巴和七个小矮人" panose="00000500000000000000" charset="-122"/>
              <a:sym typeface="方正宝黑体 简 Light" panose="02000400000000000000" charset="-122"/>
            </a:endParaRPr>
          </a:p>
          <a:p>
            <a:r>
              <a:rPr lang="en-US" altLang="zh-CN" sz="3200" i="1" dirty="0">
                <a:latin typeface="Times New Roman" panose="02020603050405020304" charset="0"/>
                <a:ea typeface="站酷文艺体" panose="02000603000000000000" pitchFamily="2" charset="-122"/>
                <a:cs typeface="Times New Roman" panose="02020603050405020304" charset="0"/>
                <a:sym typeface="方正宝黑体 简 Light" panose="02000400000000000000" charset="-122"/>
              </a:rPr>
              <a:t>What is your hobby?</a:t>
            </a:r>
            <a:endParaRPr lang="en-US" altLang="zh-CN" sz="3200" i="1" dirty="0">
              <a:latin typeface="Times New Roman" panose="02020603050405020304" charset="0"/>
              <a:ea typeface="站酷文艺体" panose="02000603000000000000" pitchFamily="2" charset="-122"/>
              <a:cs typeface="Times New Roman" panose="02020603050405020304" charset="0"/>
              <a:sym typeface="方正宝黑体 简 Light" panose="020004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3425" y="2177415"/>
            <a:ext cx="4279265" cy="2284730"/>
          </a:xfrm>
          <a:prstGeom prst="rect">
            <a:avLst/>
          </a:prstGeom>
          <a:gradFill>
            <a:gsLst>
              <a:gs pos="24000">
                <a:srgbClr val="73B6E1">
                  <a:alpha val="5000"/>
                </a:srgbClr>
              </a:gs>
              <a:gs pos="100000">
                <a:srgbClr val="E4E6F5"/>
              </a:gs>
              <a:gs pos="70000">
                <a:srgbClr val="BFDBF3">
                  <a:alpha val="48000"/>
                </a:srgbClr>
              </a:gs>
              <a:gs pos="1000">
                <a:srgbClr val="3467A0">
                  <a:alpha val="59000"/>
                </a:srgbClr>
              </a:gs>
            </a:gsLst>
            <a:lin ang="2700000" scaled="1"/>
          </a:gra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サッカー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soccer</a:t>
            </a:r>
            <a:endParaRPr lang="en-US" altLang="zh-CN" sz="2200" i="1" dirty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バスケットボール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 basketball</a:t>
            </a:r>
            <a:endParaRPr lang="en-US" altLang="zh-CN" sz="24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水泳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すいえい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 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swimming</a:t>
            </a:r>
            <a:endParaRPr lang="en-US" altLang="zh-CN" sz="24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ジョギング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 jogging</a:t>
            </a:r>
            <a:endParaRPr lang="en-US" altLang="zh-CN" sz="2200" i="1" dirty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     </a:t>
            </a:r>
            <a:endParaRPr lang="en-US" altLang="zh-CN" sz="2200" i="1" dirty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方正宝黑体 简 Light" panose="0200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31815" y="873760"/>
            <a:ext cx="3574415" cy="3625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映画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えいが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en-US" altLang="zh-CN" sz="2400"/>
              <a:t>/</a:t>
            </a: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</a:rPr>
              <a:t> movies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漫画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まんが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en-US" altLang="zh-CN" sz="2400"/>
              <a:t>/ </a:t>
            </a: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</a:rPr>
              <a:t>manga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ja-JP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アニメ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2400"/>
              <a:t>/ </a:t>
            </a: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</a:rPr>
              <a:t>anime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音楽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おんがく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 </a:t>
            </a:r>
            <a:r>
              <a:rPr lang="en-US" altLang="zh-CN" sz="2400"/>
              <a:t>/ </a:t>
            </a: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</a:rPr>
              <a:t>music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ja-JP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ゲーム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2400"/>
              <a:t>/ </a:t>
            </a:r>
            <a:r>
              <a:rPr lang="en-US" altLang="zh-CN" sz="2200" i="1">
                <a:latin typeface="Times New Roman" panose="02020603050405020304" charset="0"/>
                <a:cs typeface="Times New Roman" panose="02020603050405020304" charset="0"/>
              </a:rPr>
              <a:t>games</a:t>
            </a:r>
            <a:endParaRPr lang="en-US" altLang="zh-CN" sz="22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6413500" y="4281805"/>
            <a:ext cx="5249545" cy="2576195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" cstate="screen">
              <a:alphaModFix amt="32000"/>
            </a:blip>
            <a:srcRect/>
            <a:stretch>
              <a:fillRect t="-1076" b="-2957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3"/>
          <p:cNvSpPr/>
          <p:nvPr/>
        </p:nvSpPr>
        <p:spPr>
          <a:xfrm>
            <a:off x="1299210" y="4898390"/>
            <a:ext cx="4203700" cy="1767205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 descr="26882030298876274765b55df4822e4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9206230" y="-454025"/>
            <a:ext cx="3414395" cy="407225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299845" y="4899025"/>
            <a:ext cx="4202430" cy="1746885"/>
          </a:xfrm>
          <a:prstGeom prst="rect">
            <a:avLst/>
          </a:prstGeom>
          <a:gradFill>
            <a:gsLst>
              <a:gs pos="0">
                <a:srgbClr val="FAD6E3"/>
              </a:gs>
              <a:gs pos="100000">
                <a:srgbClr val="B2EAE9">
                  <a:alpha val="100000"/>
                </a:srgbClr>
              </a:gs>
            </a:gsLst>
            <a:lin ang="2700000" scaled="1"/>
          </a:gradFill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旅行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りょこう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en-US" altLang="zh-CN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travel</a:t>
            </a:r>
            <a:endParaRPr lang="en-US" altLang="zh-CN" sz="22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写真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しゃしん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 </a:t>
            </a:r>
            <a:r>
              <a:rPr lang="en-US" altLang="zh-CN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/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photography</a:t>
            </a:r>
            <a:endParaRPr lang="en-US" altLang="zh-CN" sz="22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料理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りょうり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en-US" altLang="zh-CN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/</a:t>
            </a:r>
            <a:r>
              <a:rPr lang="en-US" altLang="zh-CN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 </a:t>
            </a:r>
            <a:r>
              <a:rPr lang="en-US" altLang="zh-CN" sz="2200" i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方正宝黑体 简 Light" panose="02000400000000000000" charset="-122"/>
              </a:rPr>
              <a:t>cooking</a:t>
            </a:r>
            <a:endParaRPr lang="en-US" altLang="zh-CN" sz="2200" i="1" dirty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方正宝黑体 简 Light" panose="02000400000000000000" charset="-122"/>
            </a:endParaRPr>
          </a:p>
          <a:p>
            <a:endParaRPr lang="en-US" altLang="zh-CN" sz="2200" i="1" dirty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方正宝黑体 简 Light" panose="0200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天空, 自然, 户外, 山&#10;&#10;描述已自动生成"/>
          <p:cNvPicPr>
            <a:picLocks noChangeAspect="1"/>
          </p:cNvPicPr>
          <p:nvPr/>
        </p:nvPicPr>
        <p:blipFill rotWithShape="1">
          <a:blip r:embed="rId1" cstate="screen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>
            <a:off x="0" y="1752600"/>
            <a:ext cx="7829550" cy="346710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230839" y="2472837"/>
            <a:ext cx="5263663" cy="2026626"/>
            <a:chOff x="1230839" y="2304111"/>
            <a:chExt cx="5263663" cy="2026626"/>
          </a:xfrm>
        </p:grpSpPr>
        <p:grpSp>
          <p:nvGrpSpPr>
            <p:cNvPr id="2" name="组合 1"/>
            <p:cNvGrpSpPr/>
            <p:nvPr/>
          </p:nvGrpSpPr>
          <p:grpSpPr>
            <a:xfrm>
              <a:off x="1230839" y="2304111"/>
              <a:ext cx="1501143" cy="2026626"/>
              <a:chOff x="1230839" y="2062964"/>
              <a:chExt cx="1501143" cy="2026626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1230839" y="2062964"/>
                <a:ext cx="150114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9600" dirty="0">
                    <a:latin typeface="方正正黑_GBK" panose="02000000000000000000" charset="-122"/>
                    <a:ea typeface="方正正黑_GBK" panose="02000000000000000000" charset="-122"/>
                    <a:cs typeface="方正超值体 简 Light" panose="02010600010101010101" charset="-122"/>
                  </a:rPr>
                  <a:t>02</a:t>
                </a:r>
                <a:endParaRPr lang="zh-CN" altLang="en-US" sz="9600" dirty="0">
                  <a:latin typeface="方正正黑_GBK" panose="02000000000000000000" charset="-122"/>
                  <a:ea typeface="方正正黑_GBK" panose="02000000000000000000" charset="-122"/>
                  <a:cs typeface="方正超值体 简 Light" panose="02010600010101010101" charset="-122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1386335" y="3632624"/>
                <a:ext cx="1257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1393238" y="3751044"/>
                <a:ext cx="1243494" cy="338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600" dirty="0">
                    <a:latin typeface="方正超值体 简 Light" panose="02010600010101010101" charset="-122"/>
                    <a:ea typeface="方正超值体 简 Light" panose="02010600010101010101" charset="-122"/>
                    <a:cs typeface="方正超值体 简 Light" panose="02010600010101010101" charset="-122"/>
                  </a:rPr>
                  <a:t>TWO</a:t>
                </a:r>
                <a:endParaRPr lang="zh-CN" altLang="en-US" sz="1600" dirty="0">
                  <a:latin typeface="方正超值体 简 Light" panose="02010600010101010101" charset="-122"/>
                  <a:ea typeface="方正超值体 简 Light" panose="02010600010101010101" charset="-122"/>
                  <a:cs typeface="方正超值体 简 Light" panose="02010600010101010101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348157" y="3284297"/>
              <a:ext cx="3146345" cy="1045845"/>
              <a:chOff x="4674963" y="1780342"/>
              <a:chExt cx="3146345" cy="1045845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4674963" y="1780342"/>
                <a:ext cx="3146345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dirty="0">
                    <a:latin typeface="黑体" panose="02010609060101010101" charset="-122"/>
                    <a:ea typeface="黑体" panose="02010609060101010101" charset="-122"/>
                    <a:cs typeface="阿里巴巴和七个小矮人" panose="00000500000000000000" charset="-122"/>
                  </a:rPr>
                  <a:t>文法</a:t>
                </a:r>
                <a:r>
                  <a:rPr lang="ja-JP" altLang="en-US" sz="4400" dirty="0">
                    <a:latin typeface="黑体" panose="02010609060101010101" charset="-122"/>
                    <a:ea typeface="黑体" panose="02010609060101010101" charset="-122"/>
                    <a:cs typeface="阿里巴巴和七个小矮人" panose="00000500000000000000" charset="-122"/>
                  </a:rPr>
                  <a:t>の</a:t>
                </a:r>
                <a:r>
                  <a:rPr lang="zh-CN" altLang="en-US" sz="4400" dirty="0">
                    <a:latin typeface="黑体" panose="02010609060101010101" charset="-122"/>
                    <a:ea typeface="黑体" panose="02010609060101010101" charset="-122"/>
                    <a:cs typeface="阿里巴巴和七个小矮人" panose="00000500000000000000" charset="-122"/>
                  </a:rPr>
                  <a:t>復習</a:t>
                </a:r>
                <a:endParaRPr lang="zh-CN" altLang="en-US" sz="4400" dirty="0">
                  <a:latin typeface="黑体" panose="02010609060101010101" charset="-122"/>
                  <a:ea typeface="黑体" panose="02010609060101010101" charset="-122"/>
                  <a:cs typeface="阿里巴巴和七个小矮人" panose="00000500000000000000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827363" y="2548692"/>
                <a:ext cx="2841625" cy="2774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200" i="1" spc="3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charset="0"/>
                    <a:ea typeface="方正超值体 简 Light" panose="02010600010101010101" charset="-122"/>
                    <a:cs typeface="Times New Roman" panose="02020603050405020304" charset="0"/>
                  </a:rPr>
                  <a:t>Grammar review</a:t>
                </a:r>
                <a:endParaRPr lang="en-US" altLang="zh-CN" sz="2200" i="1" spc="3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charset="0"/>
                  <a:ea typeface="方正超值体 简 Light" panose="02010600010101010101" charset="-122"/>
                  <a:cs typeface="Times New Roman" panose="0202060305040502030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/>
        </p:nvSpPr>
        <p:spPr>
          <a:xfrm>
            <a:off x="6355715" y="1744980"/>
            <a:ext cx="5855335" cy="5170170"/>
          </a:xfrm>
          <a:custGeom>
            <a:avLst/>
            <a:gdLst>
              <a:gd name="connsiteX0" fmla="*/ 0 w 6096000"/>
              <a:gd name="connsiteY0" fmla="*/ 6858000 h 6858000"/>
              <a:gd name="connsiteX1" fmla="*/ 1524000 w 6096000"/>
              <a:gd name="connsiteY1" fmla="*/ 0 h 6858000"/>
              <a:gd name="connsiteX2" fmla="*/ 6096000 w 6096000"/>
              <a:gd name="connsiteY2" fmla="*/ 0 h 6858000"/>
              <a:gd name="connsiteX3" fmla="*/ 4572000 w 6096000"/>
              <a:gd name="connsiteY3" fmla="*/ 6858000 h 6858000"/>
              <a:gd name="connsiteX4" fmla="*/ 0 w 6096000"/>
              <a:gd name="connsiteY4" fmla="*/ 6858000 h 6858000"/>
              <a:gd name="connsiteX0-1" fmla="*/ 0 w 6115050"/>
              <a:gd name="connsiteY0-2" fmla="*/ 6858000 h 6915150"/>
              <a:gd name="connsiteX1-3" fmla="*/ 1524000 w 6115050"/>
              <a:gd name="connsiteY1-4" fmla="*/ 0 h 6915150"/>
              <a:gd name="connsiteX2-5" fmla="*/ 6096000 w 6115050"/>
              <a:gd name="connsiteY2-6" fmla="*/ 0 h 6915150"/>
              <a:gd name="connsiteX3-7" fmla="*/ 6115050 w 6115050"/>
              <a:gd name="connsiteY3-8" fmla="*/ 6915150 h 6915150"/>
              <a:gd name="connsiteX4-9" fmla="*/ 0 w 6115050"/>
              <a:gd name="connsiteY4-10" fmla="*/ 6858000 h 69151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115050" h="6915150">
                <a:moveTo>
                  <a:pt x="0" y="6858000"/>
                </a:moveTo>
                <a:lnTo>
                  <a:pt x="1524000" y="0"/>
                </a:lnTo>
                <a:lnTo>
                  <a:pt x="6096000" y="0"/>
                </a:lnTo>
                <a:lnTo>
                  <a:pt x="6115050" y="691515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" cstate="screen"/>
            <a:srcRect/>
            <a:stretch>
              <a:fillRect l="-13759" r="-1375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2010" y="1518285"/>
            <a:ext cx="6136005" cy="21767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初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(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はじ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)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めまして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、</a:t>
            </a:r>
            <a:r>
              <a:rPr lang="zh-CN" altLang="en-US" sz="32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石头</a:t>
            </a:r>
            <a:r>
              <a:rPr lang="en-US" altLang="zh-CN" sz="32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(</a:t>
            </a:r>
            <a:r>
              <a:rPr lang="ja-JP" altLang="en-US" sz="32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いしあたま</a:t>
            </a:r>
            <a:r>
              <a:rPr lang="en-US" altLang="zh-CN" sz="32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)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です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。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バングラデシュから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来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(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き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)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ました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。</a:t>
            </a:r>
            <a:endParaRPr lang="zh-CN" altLang="en-US" sz="32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7905" y="4193540"/>
            <a:ext cx="4973955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  </a:t>
            </a: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Nice to meet you. My name is </a:t>
            </a:r>
            <a:r>
              <a:rPr lang="en-US" altLang="zh-CN" sz="2800" i="1" u="sng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Shitou</a:t>
            </a: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. I’m from </a:t>
            </a:r>
            <a:r>
              <a:rPr lang="en-US" altLang="zh-CN" sz="2800" i="1" u="sng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Bangladesh</a:t>
            </a: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.</a:t>
            </a:r>
            <a:endParaRPr lang="en-US" altLang="zh-CN" sz="2800" i="1" dirty="0">
              <a:solidFill>
                <a:schemeClr val="bg1">
                  <a:lumMod val="65000"/>
                </a:schemeClr>
              </a:solidFill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3100" y="654050"/>
            <a:ext cx="818515" cy="61468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zh-CN" altLang="en-US" sz="5400">
                <a:latin typeface="Calibri" panose="020F0502020204030204" charset="0"/>
              </a:rPr>
              <a:t>①</a:t>
            </a:r>
            <a:endParaRPr lang="zh-CN" altLang="en-US" sz="5400">
              <a:latin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/>
        </p:nvSpPr>
        <p:spPr>
          <a:xfrm>
            <a:off x="6355715" y="1744980"/>
            <a:ext cx="5855335" cy="5170170"/>
          </a:xfrm>
          <a:custGeom>
            <a:avLst/>
            <a:gdLst>
              <a:gd name="connsiteX0" fmla="*/ 0 w 6096000"/>
              <a:gd name="connsiteY0" fmla="*/ 6858000 h 6858000"/>
              <a:gd name="connsiteX1" fmla="*/ 1524000 w 6096000"/>
              <a:gd name="connsiteY1" fmla="*/ 0 h 6858000"/>
              <a:gd name="connsiteX2" fmla="*/ 6096000 w 6096000"/>
              <a:gd name="connsiteY2" fmla="*/ 0 h 6858000"/>
              <a:gd name="connsiteX3" fmla="*/ 4572000 w 6096000"/>
              <a:gd name="connsiteY3" fmla="*/ 6858000 h 6858000"/>
              <a:gd name="connsiteX4" fmla="*/ 0 w 6096000"/>
              <a:gd name="connsiteY4" fmla="*/ 6858000 h 6858000"/>
              <a:gd name="connsiteX0-1" fmla="*/ 0 w 6115050"/>
              <a:gd name="connsiteY0-2" fmla="*/ 6858000 h 6915150"/>
              <a:gd name="connsiteX1-3" fmla="*/ 1524000 w 6115050"/>
              <a:gd name="connsiteY1-4" fmla="*/ 0 h 6915150"/>
              <a:gd name="connsiteX2-5" fmla="*/ 6096000 w 6115050"/>
              <a:gd name="connsiteY2-6" fmla="*/ 0 h 6915150"/>
              <a:gd name="connsiteX3-7" fmla="*/ 6115050 w 6115050"/>
              <a:gd name="connsiteY3-8" fmla="*/ 6915150 h 6915150"/>
              <a:gd name="connsiteX4-9" fmla="*/ 0 w 6115050"/>
              <a:gd name="connsiteY4-10" fmla="*/ 6858000 h 69151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115050" h="6915150">
                <a:moveTo>
                  <a:pt x="0" y="6858000"/>
                </a:moveTo>
                <a:lnTo>
                  <a:pt x="1524000" y="0"/>
                </a:lnTo>
                <a:lnTo>
                  <a:pt x="6096000" y="0"/>
                </a:lnTo>
                <a:lnTo>
                  <a:pt x="6115050" y="691515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" cstate="screen"/>
            <a:srcRect/>
            <a:stretch>
              <a:fillRect l="-13759" r="-1375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9955" y="1898015"/>
            <a:ext cx="6136005" cy="21767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初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(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はじ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)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めまして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、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(   A   )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です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。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(   B   )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から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来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(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き</a:t>
            </a:r>
            <a:r>
              <a:rPr lang="en-US" altLang="zh-CN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)</a:t>
            </a:r>
            <a:r>
              <a:rPr lang="ja-JP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ました</a:t>
            </a:r>
            <a:r>
              <a:rPr lang="zh-CN" altLang="en-US" sz="32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。</a:t>
            </a:r>
            <a:endParaRPr lang="zh-CN" altLang="en-US" sz="32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7905" y="4703445"/>
            <a:ext cx="4973955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  </a:t>
            </a:r>
            <a:r>
              <a:rPr lang="en-US" altLang="zh-CN" sz="26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+mn-ea"/>
              </a:rPr>
              <a:t>Nice to meet you. My name is (    A    ). I’m from (    B    ).</a:t>
            </a:r>
            <a:endParaRPr lang="en-US" altLang="zh-CN" sz="2600" i="1" dirty="0">
              <a:solidFill>
                <a:schemeClr val="bg1">
                  <a:lumMod val="65000"/>
                </a:schemeClr>
              </a:solidFill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3100" y="654050"/>
            <a:ext cx="818515" cy="61468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zh-CN" altLang="en-US" sz="5400">
                <a:latin typeface="Calibri" panose="020F0502020204030204" charset="0"/>
              </a:rPr>
              <a:t>①</a:t>
            </a:r>
            <a:r>
              <a:rPr lang="en-US" altLang="zh-CN" sz="5400">
                <a:latin typeface="Calibri" panose="020F0502020204030204" charset="0"/>
              </a:rPr>
              <a:t> </a:t>
            </a:r>
            <a:r>
              <a:rPr lang="zh-CN" altLang="en-US" sz="5400">
                <a:latin typeface="Calibri" panose="020F0502020204030204" charset="0"/>
              </a:rPr>
              <a:t>練習</a:t>
            </a:r>
            <a:r>
              <a:rPr lang="en-US" altLang="zh-CN" sz="5400">
                <a:latin typeface="Calibri" panose="020F0502020204030204" charset="0"/>
              </a:rPr>
              <a:t> / </a:t>
            </a:r>
            <a:r>
              <a:rPr lang="en-US" altLang="zh-CN" sz="5400" i="1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Practice</a:t>
            </a:r>
            <a:endParaRPr lang="en-US" altLang="zh-CN" sz="5400" i="1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0" y="3916565"/>
            <a:ext cx="7094855" cy="2941955"/>
            <a:chOff x="0" y="3916565"/>
            <a:chExt cx="7094855" cy="2941955"/>
          </a:xfrm>
          <a:blipFill>
            <a:blip r:embed="rId1">
              <a:alphaModFix amt="65000"/>
            </a:blip>
            <a:stretch>
              <a:fillRect t="-1076" b="-29574"/>
            </a:stretch>
          </a:blipFill>
        </p:grpSpPr>
        <p:sp>
          <p:nvSpPr>
            <p:cNvPr id="2" name="任意多边形: 形状 1"/>
            <p:cNvSpPr/>
            <p:nvPr/>
          </p:nvSpPr>
          <p:spPr>
            <a:xfrm>
              <a:off x="0" y="3916565"/>
              <a:ext cx="2848610" cy="2941320"/>
            </a:xfrm>
            <a:custGeom>
              <a:avLst/>
              <a:gdLst>
                <a:gd name="connsiteX0" fmla="*/ 0 w 3858228"/>
                <a:gd name="connsiteY0" fmla="*/ 0 h 6858000"/>
                <a:gd name="connsiteX1" fmla="*/ 3858228 w 3858228"/>
                <a:gd name="connsiteY1" fmla="*/ 0 h 6858000"/>
                <a:gd name="connsiteX2" fmla="*/ 3858228 w 3858228"/>
                <a:gd name="connsiteY2" fmla="*/ 6858000 h 6858000"/>
                <a:gd name="connsiteX3" fmla="*/ 0 w 3858228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8228" h="6858000">
                  <a:moveTo>
                    <a:pt x="0" y="0"/>
                  </a:moveTo>
                  <a:lnTo>
                    <a:pt x="3858228" y="0"/>
                  </a:lnTo>
                  <a:lnTo>
                    <a:pt x="3858228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964180" y="3917200"/>
              <a:ext cx="1409700" cy="1228090"/>
            </a:xfrm>
            <a:custGeom>
              <a:avLst/>
              <a:gdLst>
                <a:gd name="connsiteX0" fmla="*/ 0 w 4105275"/>
                <a:gd name="connsiteY0" fmla="*/ 0 h 2475000"/>
                <a:gd name="connsiteX1" fmla="*/ 4105275 w 4105275"/>
                <a:gd name="connsiteY1" fmla="*/ 0 h 2475000"/>
                <a:gd name="connsiteX2" fmla="*/ 4105275 w 4105275"/>
                <a:gd name="connsiteY2" fmla="*/ 2475000 h 2475000"/>
                <a:gd name="connsiteX3" fmla="*/ 0 w 4105275"/>
                <a:gd name="connsiteY3" fmla="*/ 2475000 h 247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5275" h="2475000">
                  <a:moveTo>
                    <a:pt x="0" y="0"/>
                  </a:moveTo>
                  <a:lnTo>
                    <a:pt x="4105275" y="0"/>
                  </a:lnTo>
                  <a:lnTo>
                    <a:pt x="4105275" y="2475000"/>
                  </a:lnTo>
                  <a:lnTo>
                    <a:pt x="0" y="2475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2964180" y="5255780"/>
              <a:ext cx="1409700" cy="1602740"/>
            </a:xfrm>
            <a:custGeom>
              <a:avLst/>
              <a:gdLst>
                <a:gd name="connsiteX0" fmla="*/ 0 w 4105275"/>
                <a:gd name="connsiteY0" fmla="*/ 0 h 2475000"/>
                <a:gd name="connsiteX1" fmla="*/ 4105275 w 4105275"/>
                <a:gd name="connsiteY1" fmla="*/ 0 h 2475000"/>
                <a:gd name="connsiteX2" fmla="*/ 4105275 w 4105275"/>
                <a:gd name="connsiteY2" fmla="*/ 2475000 h 2475000"/>
                <a:gd name="connsiteX3" fmla="*/ 0 w 4105275"/>
                <a:gd name="connsiteY3" fmla="*/ 2475000 h 247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5275" h="2475000">
                  <a:moveTo>
                    <a:pt x="0" y="0"/>
                  </a:moveTo>
                  <a:lnTo>
                    <a:pt x="4105275" y="0"/>
                  </a:lnTo>
                  <a:lnTo>
                    <a:pt x="4105275" y="2475000"/>
                  </a:lnTo>
                  <a:lnTo>
                    <a:pt x="0" y="2475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4489450" y="3917200"/>
              <a:ext cx="2605405" cy="1228090"/>
            </a:xfrm>
            <a:custGeom>
              <a:avLst/>
              <a:gdLst>
                <a:gd name="connsiteX0" fmla="*/ 0 w 4105275"/>
                <a:gd name="connsiteY0" fmla="*/ 0 h 2475000"/>
                <a:gd name="connsiteX1" fmla="*/ 4105275 w 4105275"/>
                <a:gd name="connsiteY1" fmla="*/ 0 h 2475000"/>
                <a:gd name="connsiteX2" fmla="*/ 4105275 w 4105275"/>
                <a:gd name="connsiteY2" fmla="*/ 2475000 h 2475000"/>
                <a:gd name="connsiteX3" fmla="*/ 0 w 4105275"/>
                <a:gd name="connsiteY3" fmla="*/ 2475000 h 247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5275" h="2475000">
                  <a:moveTo>
                    <a:pt x="0" y="0"/>
                  </a:moveTo>
                  <a:lnTo>
                    <a:pt x="4105275" y="0"/>
                  </a:lnTo>
                  <a:lnTo>
                    <a:pt x="4105275" y="2475000"/>
                  </a:lnTo>
                  <a:lnTo>
                    <a:pt x="0" y="2475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4489450" y="5255145"/>
              <a:ext cx="2593340" cy="1602740"/>
            </a:xfrm>
            <a:custGeom>
              <a:avLst/>
              <a:gdLst>
                <a:gd name="connsiteX0" fmla="*/ 0 w 4105275"/>
                <a:gd name="connsiteY0" fmla="*/ 0 h 2475000"/>
                <a:gd name="connsiteX1" fmla="*/ 4105275 w 4105275"/>
                <a:gd name="connsiteY1" fmla="*/ 0 h 2475000"/>
                <a:gd name="connsiteX2" fmla="*/ 4105275 w 4105275"/>
                <a:gd name="connsiteY2" fmla="*/ 2475000 h 2475000"/>
                <a:gd name="connsiteX3" fmla="*/ 0 w 4105275"/>
                <a:gd name="connsiteY3" fmla="*/ 2475000 h 247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5275" h="2475000">
                  <a:moveTo>
                    <a:pt x="0" y="0"/>
                  </a:moveTo>
                  <a:lnTo>
                    <a:pt x="4105275" y="0"/>
                  </a:lnTo>
                  <a:lnTo>
                    <a:pt x="4105275" y="2475000"/>
                  </a:lnTo>
                  <a:lnTo>
                    <a:pt x="0" y="2475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38175" y="1196658"/>
            <a:ext cx="10582275" cy="23069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  </a:t>
            </a:r>
            <a:r>
              <a:rPr lang="zh-CN" altLang="en-US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今年</a:t>
            </a:r>
            <a:r>
              <a:rPr lang="en-US" altLang="zh-CN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ことし</a:t>
            </a:r>
            <a:r>
              <a:rPr lang="en-US" altLang="zh-CN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)9</a:t>
            </a:r>
            <a:r>
              <a:rPr lang="zh-CN" altLang="en-US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月</a:t>
            </a:r>
            <a:r>
              <a:rPr lang="en-US" altLang="zh-CN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くがつ</a:t>
            </a:r>
            <a:r>
              <a:rPr lang="en-US" altLang="zh-CN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に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日本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にほん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に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来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き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て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、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今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いま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は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京都情報大学院大学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きょうとじょうほうだいがくいんだいがく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の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留学生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りゅうがくせい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です</a:t>
            </a:r>
            <a:endParaRPr lang="ja-JP" altLang="en-US"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方正宝黑体 简 Light" panose="020004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68870" y="3756660"/>
            <a:ext cx="43700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 </a:t>
            </a:r>
            <a:r>
              <a:rPr lang="en-US" altLang="zh-CN" sz="24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 I came to Japan in </a:t>
            </a:r>
            <a:r>
              <a:rPr lang="en-US" altLang="zh-CN" sz="2400" i="1" u="sng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September this year</a:t>
            </a:r>
            <a:r>
              <a:rPr lang="en-US" altLang="zh-CN" sz="24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, and I am currently an international student at the Kyoto College of Graduate Studies for Informatics.</a:t>
            </a:r>
            <a:endParaRPr lang="en-US" altLang="zh-CN" sz="2400" i="1" dirty="0">
              <a:solidFill>
                <a:schemeClr val="bg1">
                  <a:lumMod val="65000"/>
                </a:schemeClr>
              </a:solidFill>
              <a:latin typeface="Segoe UI" panose="020B0502040204020203" charset="0"/>
              <a:ea typeface="方正超值体 简 Light" panose="02010600010101010101" charset="-122"/>
              <a:cs typeface="Segoe UI" panose="020B0502040204020203" charset="0"/>
              <a:sym typeface="方正宝黑体 简 Light" panose="0200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5620" y="23114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 dirty="0">
                <a:latin typeface="Calibri" panose="020F0502020204030204" charset="0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②</a:t>
            </a:r>
            <a:endParaRPr lang="en-US" altLang="zh-CN" sz="5400" dirty="0">
              <a:latin typeface="Calibri" panose="020F0502020204030204" charset="0"/>
              <a:ea typeface="黑体" panose="02010609060101010101" charset="-122"/>
              <a:cs typeface="黑体" panose="02010609060101010101" charset="-122"/>
              <a:sym typeface="方正宝黑体 简 Light" panose="0200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0" y="3916565"/>
            <a:ext cx="7094855" cy="2941955"/>
            <a:chOff x="0" y="3916565"/>
            <a:chExt cx="7094855" cy="2941955"/>
          </a:xfrm>
          <a:blipFill>
            <a:blip r:embed="rId1">
              <a:alphaModFix amt="65000"/>
            </a:blip>
            <a:stretch>
              <a:fillRect t="-1076" b="-29574"/>
            </a:stretch>
          </a:blipFill>
        </p:grpSpPr>
        <p:sp>
          <p:nvSpPr>
            <p:cNvPr id="2" name="任意多边形: 形状 1"/>
            <p:cNvSpPr/>
            <p:nvPr/>
          </p:nvSpPr>
          <p:spPr>
            <a:xfrm>
              <a:off x="0" y="3916565"/>
              <a:ext cx="2848610" cy="2941320"/>
            </a:xfrm>
            <a:custGeom>
              <a:avLst/>
              <a:gdLst>
                <a:gd name="connsiteX0" fmla="*/ 0 w 3858228"/>
                <a:gd name="connsiteY0" fmla="*/ 0 h 6858000"/>
                <a:gd name="connsiteX1" fmla="*/ 3858228 w 3858228"/>
                <a:gd name="connsiteY1" fmla="*/ 0 h 6858000"/>
                <a:gd name="connsiteX2" fmla="*/ 3858228 w 3858228"/>
                <a:gd name="connsiteY2" fmla="*/ 6858000 h 6858000"/>
                <a:gd name="connsiteX3" fmla="*/ 0 w 3858228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8228" h="6858000">
                  <a:moveTo>
                    <a:pt x="0" y="0"/>
                  </a:moveTo>
                  <a:lnTo>
                    <a:pt x="3858228" y="0"/>
                  </a:lnTo>
                  <a:lnTo>
                    <a:pt x="3858228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964180" y="3917200"/>
              <a:ext cx="1409700" cy="1228090"/>
            </a:xfrm>
            <a:custGeom>
              <a:avLst/>
              <a:gdLst>
                <a:gd name="connsiteX0" fmla="*/ 0 w 4105275"/>
                <a:gd name="connsiteY0" fmla="*/ 0 h 2475000"/>
                <a:gd name="connsiteX1" fmla="*/ 4105275 w 4105275"/>
                <a:gd name="connsiteY1" fmla="*/ 0 h 2475000"/>
                <a:gd name="connsiteX2" fmla="*/ 4105275 w 4105275"/>
                <a:gd name="connsiteY2" fmla="*/ 2475000 h 2475000"/>
                <a:gd name="connsiteX3" fmla="*/ 0 w 4105275"/>
                <a:gd name="connsiteY3" fmla="*/ 2475000 h 247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5275" h="2475000">
                  <a:moveTo>
                    <a:pt x="0" y="0"/>
                  </a:moveTo>
                  <a:lnTo>
                    <a:pt x="4105275" y="0"/>
                  </a:lnTo>
                  <a:lnTo>
                    <a:pt x="4105275" y="2475000"/>
                  </a:lnTo>
                  <a:lnTo>
                    <a:pt x="0" y="2475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2964180" y="5255780"/>
              <a:ext cx="1409700" cy="1602740"/>
            </a:xfrm>
            <a:custGeom>
              <a:avLst/>
              <a:gdLst>
                <a:gd name="connsiteX0" fmla="*/ 0 w 4105275"/>
                <a:gd name="connsiteY0" fmla="*/ 0 h 2475000"/>
                <a:gd name="connsiteX1" fmla="*/ 4105275 w 4105275"/>
                <a:gd name="connsiteY1" fmla="*/ 0 h 2475000"/>
                <a:gd name="connsiteX2" fmla="*/ 4105275 w 4105275"/>
                <a:gd name="connsiteY2" fmla="*/ 2475000 h 2475000"/>
                <a:gd name="connsiteX3" fmla="*/ 0 w 4105275"/>
                <a:gd name="connsiteY3" fmla="*/ 2475000 h 247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5275" h="2475000">
                  <a:moveTo>
                    <a:pt x="0" y="0"/>
                  </a:moveTo>
                  <a:lnTo>
                    <a:pt x="4105275" y="0"/>
                  </a:lnTo>
                  <a:lnTo>
                    <a:pt x="4105275" y="2475000"/>
                  </a:lnTo>
                  <a:lnTo>
                    <a:pt x="0" y="2475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4489450" y="3917200"/>
              <a:ext cx="2605405" cy="1228090"/>
            </a:xfrm>
            <a:custGeom>
              <a:avLst/>
              <a:gdLst>
                <a:gd name="connsiteX0" fmla="*/ 0 w 4105275"/>
                <a:gd name="connsiteY0" fmla="*/ 0 h 2475000"/>
                <a:gd name="connsiteX1" fmla="*/ 4105275 w 4105275"/>
                <a:gd name="connsiteY1" fmla="*/ 0 h 2475000"/>
                <a:gd name="connsiteX2" fmla="*/ 4105275 w 4105275"/>
                <a:gd name="connsiteY2" fmla="*/ 2475000 h 2475000"/>
                <a:gd name="connsiteX3" fmla="*/ 0 w 4105275"/>
                <a:gd name="connsiteY3" fmla="*/ 2475000 h 247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5275" h="2475000">
                  <a:moveTo>
                    <a:pt x="0" y="0"/>
                  </a:moveTo>
                  <a:lnTo>
                    <a:pt x="4105275" y="0"/>
                  </a:lnTo>
                  <a:lnTo>
                    <a:pt x="4105275" y="2475000"/>
                  </a:lnTo>
                  <a:lnTo>
                    <a:pt x="0" y="2475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4489450" y="5255145"/>
              <a:ext cx="2593340" cy="1602740"/>
            </a:xfrm>
            <a:custGeom>
              <a:avLst/>
              <a:gdLst>
                <a:gd name="connsiteX0" fmla="*/ 0 w 4105275"/>
                <a:gd name="connsiteY0" fmla="*/ 0 h 2475000"/>
                <a:gd name="connsiteX1" fmla="*/ 4105275 w 4105275"/>
                <a:gd name="connsiteY1" fmla="*/ 0 h 2475000"/>
                <a:gd name="connsiteX2" fmla="*/ 4105275 w 4105275"/>
                <a:gd name="connsiteY2" fmla="*/ 2475000 h 2475000"/>
                <a:gd name="connsiteX3" fmla="*/ 0 w 4105275"/>
                <a:gd name="connsiteY3" fmla="*/ 2475000 h 247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5275" h="2475000">
                  <a:moveTo>
                    <a:pt x="0" y="0"/>
                  </a:moveTo>
                  <a:lnTo>
                    <a:pt x="4105275" y="0"/>
                  </a:lnTo>
                  <a:lnTo>
                    <a:pt x="4105275" y="2475000"/>
                  </a:lnTo>
                  <a:lnTo>
                    <a:pt x="0" y="2475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38175" y="1196658"/>
            <a:ext cx="10582275" cy="23069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  (    C   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）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に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日本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にほん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に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来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き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て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、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今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いま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は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京都情報大学院大学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きょうとじょうほうだいがくいんだいがく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の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留学生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りゅうがくせい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です</a:t>
            </a:r>
            <a:endParaRPr lang="ja-JP" altLang="en-US"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方正宝黑体 简 Light" panose="020004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68870" y="3756660"/>
            <a:ext cx="43700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  </a:t>
            </a:r>
            <a:r>
              <a:rPr lang="en-US" altLang="zh-CN" sz="24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I came to Japan in </a:t>
            </a:r>
            <a:r>
              <a:rPr lang="zh-CN" altLang="en-US" sz="24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（</a:t>
            </a:r>
            <a:r>
              <a:rPr lang="en-US" altLang="zh-CN" sz="24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     C   </a:t>
            </a:r>
            <a:r>
              <a:rPr lang="zh-CN" altLang="en-US" sz="24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）</a:t>
            </a:r>
            <a:r>
              <a:rPr lang="en-US" altLang="zh-CN" sz="24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, and I am currently an international student at the Kyoto College of Graduate Studies for Informatics.</a:t>
            </a:r>
            <a:endParaRPr lang="en-US" altLang="zh-CN" sz="2400" i="1" dirty="0">
              <a:solidFill>
                <a:schemeClr val="bg1">
                  <a:lumMod val="65000"/>
                </a:schemeClr>
              </a:solidFill>
              <a:latin typeface="Segoe UI" panose="020B0502040204020203" charset="0"/>
              <a:ea typeface="方正超值体 简 Light" panose="02010600010101010101" charset="-122"/>
              <a:cs typeface="Segoe UI" panose="020B0502040204020203" charset="0"/>
              <a:sym typeface="方正宝黑体 简 Light" panose="0200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5620" y="23114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 dirty="0">
                <a:latin typeface="Calibri" panose="020F0502020204030204" charset="0"/>
                <a:ea typeface="黑体" panose="02010609060101010101" charset="-122"/>
                <a:cs typeface="黑体" panose="02010609060101010101" charset="-122"/>
                <a:sym typeface="方正宝黑体 简 Light" panose="02000400000000000000" charset="-122"/>
              </a:rPr>
              <a:t>② </a:t>
            </a:r>
            <a:r>
              <a:rPr lang="zh-CN" altLang="en-US" sz="4800">
                <a:latin typeface="Calibri" panose="020F0502020204030204" charset="0"/>
                <a:sym typeface="+mn-ea"/>
              </a:rPr>
              <a:t>練習</a:t>
            </a:r>
            <a:r>
              <a:rPr lang="en-US" altLang="zh-CN" sz="4800">
                <a:latin typeface="Calibri" panose="020F0502020204030204" charset="0"/>
                <a:sym typeface="+mn-ea"/>
              </a:rPr>
              <a:t> / </a:t>
            </a:r>
            <a:r>
              <a:rPr lang="en-US" altLang="zh-CN" sz="4800" i="1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Practice</a:t>
            </a:r>
            <a:endParaRPr lang="en-US" altLang="zh-CN" sz="4800" i="1" dirty="0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0"/>
            <a:ext cx="4700270" cy="6858000"/>
            <a:chOff x="1" y="0"/>
            <a:chExt cx="7658100" cy="6858000"/>
          </a:xfrm>
          <a:blipFill dpi="0" rotWithShape="1">
            <a:blip r:embed="rId1">
              <a:alphaModFix amt="61000"/>
            </a:blip>
            <a:srcRect/>
            <a:tile tx="0" ty="0" sx="100000" sy="100000" flip="none" algn="tl"/>
          </a:blipFill>
        </p:grpSpPr>
        <p:sp>
          <p:nvSpPr>
            <p:cNvPr id="2" name="任意多边形: 形状 1"/>
            <p:cNvSpPr/>
            <p:nvPr/>
          </p:nvSpPr>
          <p:spPr>
            <a:xfrm>
              <a:off x="1" y="0"/>
              <a:ext cx="3733800" cy="6858000"/>
            </a:xfrm>
            <a:custGeom>
              <a:avLst/>
              <a:gdLst>
                <a:gd name="connsiteX0" fmla="*/ 0 w 3858228"/>
                <a:gd name="connsiteY0" fmla="*/ 0 h 6858000"/>
                <a:gd name="connsiteX1" fmla="*/ 3858228 w 3858228"/>
                <a:gd name="connsiteY1" fmla="*/ 0 h 6858000"/>
                <a:gd name="connsiteX2" fmla="*/ 3858228 w 3858228"/>
                <a:gd name="connsiteY2" fmla="*/ 6858000 h 6858000"/>
                <a:gd name="connsiteX3" fmla="*/ 0 w 3858228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8228" h="6858000">
                  <a:moveTo>
                    <a:pt x="0" y="0"/>
                  </a:moveTo>
                  <a:lnTo>
                    <a:pt x="3858228" y="0"/>
                  </a:lnTo>
                  <a:lnTo>
                    <a:pt x="3858228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3924301" y="0"/>
              <a:ext cx="3733800" cy="4329113"/>
            </a:xfrm>
            <a:custGeom>
              <a:avLst/>
              <a:gdLst>
                <a:gd name="connsiteX0" fmla="*/ 0 w 3858228"/>
                <a:gd name="connsiteY0" fmla="*/ 0 h 6858000"/>
                <a:gd name="connsiteX1" fmla="*/ 3858228 w 3858228"/>
                <a:gd name="connsiteY1" fmla="*/ 0 h 6858000"/>
                <a:gd name="connsiteX2" fmla="*/ 3858228 w 3858228"/>
                <a:gd name="connsiteY2" fmla="*/ 6858000 h 6858000"/>
                <a:gd name="connsiteX3" fmla="*/ 0 w 3858228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8228" h="6858000">
                  <a:moveTo>
                    <a:pt x="0" y="0"/>
                  </a:moveTo>
                  <a:lnTo>
                    <a:pt x="3858228" y="0"/>
                  </a:lnTo>
                  <a:lnTo>
                    <a:pt x="3858228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3924301" y="4457700"/>
              <a:ext cx="3733800" cy="2400300"/>
            </a:xfrm>
            <a:custGeom>
              <a:avLst/>
              <a:gdLst>
                <a:gd name="connsiteX0" fmla="*/ 0 w 3858228"/>
                <a:gd name="connsiteY0" fmla="*/ 0 h 6858000"/>
                <a:gd name="connsiteX1" fmla="*/ 3858228 w 3858228"/>
                <a:gd name="connsiteY1" fmla="*/ 0 h 6858000"/>
                <a:gd name="connsiteX2" fmla="*/ 3858228 w 3858228"/>
                <a:gd name="connsiteY2" fmla="*/ 6858000 h 6858000"/>
                <a:gd name="connsiteX3" fmla="*/ 0 w 3858228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8228" h="6858000">
                  <a:moveTo>
                    <a:pt x="0" y="0"/>
                  </a:moveTo>
                  <a:lnTo>
                    <a:pt x="3858228" y="0"/>
                  </a:lnTo>
                  <a:lnTo>
                    <a:pt x="3858228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924425" y="2230120"/>
            <a:ext cx="7023735" cy="21685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  </a:t>
            </a:r>
            <a:r>
              <a:rPr lang="zh-CN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日本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にほん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の</a:t>
            </a:r>
            <a:r>
              <a:rPr lang="zh-CN" altLang="en-US" sz="30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気温</a:t>
            </a:r>
            <a:r>
              <a:rPr lang="en-US" altLang="zh-CN" sz="30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30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きおん</a:t>
            </a:r>
            <a:r>
              <a:rPr lang="en-US" altLang="zh-CN" sz="30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は</a:t>
            </a:r>
            <a:r>
              <a:rPr lang="zh-CN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私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わたし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の</a:t>
            </a:r>
            <a:r>
              <a:rPr lang="zh-CN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国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くに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3000" b="1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より</a:t>
            </a:r>
            <a:r>
              <a:rPr lang="zh-CN" altLang="en-US" sz="30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寒</a:t>
            </a:r>
            <a:r>
              <a:rPr lang="ja-JP" altLang="en-US" sz="30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い</a:t>
            </a:r>
            <a:r>
              <a:rPr lang="en-US" altLang="zh-CN" sz="30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30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さむ</a:t>
            </a:r>
            <a:r>
              <a:rPr lang="ja-JP" altLang="en-US" sz="30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い</a:t>
            </a:r>
            <a:r>
              <a:rPr lang="en-US" altLang="zh-CN" sz="3000" u="sng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です</a:t>
            </a:r>
            <a:r>
              <a:rPr lang="zh-CN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。</a:t>
            </a:r>
            <a:endParaRPr lang="zh-CN" altLang="en-US" sz="30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  </a:t>
            </a:r>
            <a:endParaRPr lang="zh-CN" altLang="en-US" sz="30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81600" y="4888865"/>
            <a:ext cx="66814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  </a:t>
            </a: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+mn-ea"/>
              </a:rPr>
              <a:t>The </a:t>
            </a:r>
            <a:r>
              <a:rPr lang="en-US" altLang="zh-CN" sz="2800" i="1" u="sng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+mn-ea"/>
              </a:rPr>
              <a:t>temperature</a:t>
            </a: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+mn-ea"/>
              </a:rPr>
              <a:t> in Japan is </a:t>
            </a:r>
            <a:r>
              <a:rPr lang="en-US" altLang="zh-CN" sz="2800" i="1" u="sng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+mn-ea"/>
              </a:rPr>
              <a:t>colder</a:t>
            </a: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+mn-ea"/>
              </a:rPr>
              <a:t> than in our country.</a:t>
            </a:r>
            <a:endParaRPr lang="en-US" altLang="zh-CN" sz="2800" i="1" dirty="0">
              <a:solidFill>
                <a:schemeClr val="bg1">
                  <a:lumMod val="65000"/>
                </a:schemeClr>
              </a:solidFill>
              <a:latin typeface="Segoe UI" panose="020B0502040204020203" charset="0"/>
              <a:ea typeface="方正超值体 简 Light" panose="02010600010101010101" charset="-122"/>
              <a:cs typeface="Segoe UI" panose="020B0502040204020203" charset="0"/>
              <a:sym typeface="方正宝黑体 简 Light" panose="0200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1600" y="972820"/>
            <a:ext cx="868680" cy="922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5400">
                <a:latin typeface="Calibri" panose="020F0502020204030204" charset="0"/>
              </a:rPr>
              <a:t>③</a:t>
            </a:r>
            <a:endParaRPr lang="zh-CN" altLang="en-US" sz="5400">
              <a:latin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0"/>
            <a:ext cx="4700270" cy="6858000"/>
            <a:chOff x="1" y="0"/>
            <a:chExt cx="7658100" cy="6858000"/>
          </a:xfrm>
          <a:blipFill dpi="0" rotWithShape="1">
            <a:blip r:embed="rId1">
              <a:alphaModFix amt="61000"/>
            </a:blip>
            <a:srcRect/>
            <a:tile tx="0" ty="0" sx="100000" sy="100000" flip="none" algn="tl"/>
          </a:blipFill>
        </p:grpSpPr>
        <p:sp>
          <p:nvSpPr>
            <p:cNvPr id="2" name="任意多边形: 形状 1"/>
            <p:cNvSpPr/>
            <p:nvPr/>
          </p:nvSpPr>
          <p:spPr>
            <a:xfrm>
              <a:off x="1" y="0"/>
              <a:ext cx="3733800" cy="6858000"/>
            </a:xfrm>
            <a:custGeom>
              <a:avLst/>
              <a:gdLst>
                <a:gd name="connsiteX0" fmla="*/ 0 w 3858228"/>
                <a:gd name="connsiteY0" fmla="*/ 0 h 6858000"/>
                <a:gd name="connsiteX1" fmla="*/ 3858228 w 3858228"/>
                <a:gd name="connsiteY1" fmla="*/ 0 h 6858000"/>
                <a:gd name="connsiteX2" fmla="*/ 3858228 w 3858228"/>
                <a:gd name="connsiteY2" fmla="*/ 6858000 h 6858000"/>
                <a:gd name="connsiteX3" fmla="*/ 0 w 3858228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8228" h="6858000">
                  <a:moveTo>
                    <a:pt x="0" y="0"/>
                  </a:moveTo>
                  <a:lnTo>
                    <a:pt x="3858228" y="0"/>
                  </a:lnTo>
                  <a:lnTo>
                    <a:pt x="3858228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3924301" y="0"/>
              <a:ext cx="3733800" cy="4329113"/>
            </a:xfrm>
            <a:custGeom>
              <a:avLst/>
              <a:gdLst>
                <a:gd name="connsiteX0" fmla="*/ 0 w 3858228"/>
                <a:gd name="connsiteY0" fmla="*/ 0 h 6858000"/>
                <a:gd name="connsiteX1" fmla="*/ 3858228 w 3858228"/>
                <a:gd name="connsiteY1" fmla="*/ 0 h 6858000"/>
                <a:gd name="connsiteX2" fmla="*/ 3858228 w 3858228"/>
                <a:gd name="connsiteY2" fmla="*/ 6858000 h 6858000"/>
                <a:gd name="connsiteX3" fmla="*/ 0 w 3858228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8228" h="6858000">
                  <a:moveTo>
                    <a:pt x="0" y="0"/>
                  </a:moveTo>
                  <a:lnTo>
                    <a:pt x="3858228" y="0"/>
                  </a:lnTo>
                  <a:lnTo>
                    <a:pt x="3858228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3924301" y="4457700"/>
              <a:ext cx="3733800" cy="2400300"/>
            </a:xfrm>
            <a:custGeom>
              <a:avLst/>
              <a:gdLst>
                <a:gd name="connsiteX0" fmla="*/ 0 w 3858228"/>
                <a:gd name="connsiteY0" fmla="*/ 0 h 6858000"/>
                <a:gd name="connsiteX1" fmla="*/ 3858228 w 3858228"/>
                <a:gd name="connsiteY1" fmla="*/ 0 h 6858000"/>
                <a:gd name="connsiteX2" fmla="*/ 3858228 w 3858228"/>
                <a:gd name="connsiteY2" fmla="*/ 6858000 h 6858000"/>
                <a:gd name="connsiteX3" fmla="*/ 0 w 3858228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8228" h="6858000">
                  <a:moveTo>
                    <a:pt x="0" y="0"/>
                  </a:moveTo>
                  <a:lnTo>
                    <a:pt x="3858228" y="0"/>
                  </a:lnTo>
                  <a:lnTo>
                    <a:pt x="3858228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924425" y="2230120"/>
            <a:ext cx="7023735" cy="21685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  </a:t>
            </a:r>
            <a:r>
              <a:rPr lang="zh-CN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日本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にほん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の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    D    )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は</a:t>
            </a:r>
            <a:r>
              <a:rPr lang="zh-CN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私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わたし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の</a:t>
            </a:r>
            <a:r>
              <a:rPr lang="zh-CN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国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くに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より</a:t>
            </a:r>
            <a:r>
              <a:rPr lang="en-US" altLang="zh-CN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     E     )</a:t>
            </a:r>
            <a:r>
              <a:rPr lang="ja-JP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です</a:t>
            </a:r>
            <a:r>
              <a:rPr lang="zh-CN" altLang="en-US" sz="30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。</a:t>
            </a:r>
            <a:endParaRPr lang="zh-CN" altLang="en-US" sz="30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  <a:p>
            <a:pPr>
              <a:lnSpc>
                <a:spcPct val="150000"/>
              </a:lnSpc>
            </a:pPr>
            <a:endParaRPr lang="zh-CN" altLang="en-US" sz="3000" dirty="0">
              <a:latin typeface="Segoe UI" panose="020B0502040204020203" charset="0"/>
              <a:ea typeface="黑体" panose="02010609060101010101" charset="-122"/>
              <a:cs typeface="Segoe UI" panose="020B0502040204020203" charset="0"/>
              <a:sym typeface="方正宝黑体 简 Light" panose="0200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81600" y="4888865"/>
            <a:ext cx="66814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方正宝黑体 简 Light" panose="02000400000000000000" charset="-122"/>
              </a:rPr>
              <a:t> </a:t>
            </a: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Segoe UI" panose="020B0502040204020203" charset="0"/>
                <a:ea typeface="方正超值体 简 Light" panose="02010600010101010101" charset="-122"/>
                <a:cs typeface="Segoe UI" panose="020B0502040204020203" charset="0"/>
                <a:sym typeface="+mn-ea"/>
              </a:rPr>
              <a:t>The (   D   ) in Japan is (   E   ) than in our country.</a:t>
            </a:r>
            <a:endParaRPr lang="en-US" altLang="zh-CN" sz="2800" i="1" dirty="0">
              <a:solidFill>
                <a:schemeClr val="bg1">
                  <a:lumMod val="65000"/>
                </a:schemeClr>
              </a:solidFill>
              <a:latin typeface="Segoe UI" panose="020B0502040204020203" charset="0"/>
              <a:ea typeface="方正超值体 简 Light" panose="02010600010101010101" charset="-122"/>
              <a:cs typeface="Segoe UI" panose="020B0502040204020203" charset="0"/>
              <a:sym typeface="方正宝黑体 简 Light" panose="0200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0785" y="972820"/>
            <a:ext cx="6200775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800">
                <a:latin typeface="Calibri" panose="020F0502020204030204" charset="0"/>
              </a:rPr>
              <a:t>③</a:t>
            </a:r>
            <a:r>
              <a:rPr lang="zh-CN" altLang="en-US" sz="4400">
                <a:latin typeface="Calibri" panose="020F0502020204030204" charset="0"/>
                <a:sym typeface="+mn-ea"/>
              </a:rPr>
              <a:t>練習</a:t>
            </a:r>
            <a:r>
              <a:rPr lang="en-US" altLang="zh-CN" sz="4400">
                <a:latin typeface="Calibri" panose="020F0502020204030204" charset="0"/>
                <a:sym typeface="+mn-ea"/>
              </a:rPr>
              <a:t> / </a:t>
            </a:r>
            <a:r>
              <a:rPr lang="en-US" altLang="zh-CN" sz="4400" i="1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Practice</a:t>
            </a:r>
            <a:endParaRPr lang="en-US" altLang="zh-CN" sz="4400" i="1" dirty="0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  <a:p>
            <a:endParaRPr lang="en-US" altLang="zh-CN" sz="4400" i="1" dirty="0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6781800" y="0"/>
            <a:ext cx="5410200" cy="685800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" cstate="screen"/>
            <a:srcRect/>
            <a:stretch>
              <a:fillRect l="-72113" r="-192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4615" y="2496820"/>
            <a:ext cx="6332855" cy="15684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旅行</a:t>
            </a:r>
            <a:r>
              <a:rPr lang="en-US" altLang="zh-CN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</a:t>
            </a:r>
            <a:r>
              <a:rPr lang="ja-JP" altLang="en-US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りょこう</a:t>
            </a:r>
            <a:r>
              <a:rPr lang="en-US" altLang="zh-CN" sz="3200" u="sng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が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好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す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きです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lang="en-US" altLang="zh-CN"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ja-JP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よろしくお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願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ねが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いします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lang="zh-CN" altLang="en-US" sz="3200" dirty="0">
              <a:latin typeface="站酷文艺体" panose="02000603000000000000" pitchFamily="2" charset="-122"/>
              <a:ea typeface="站酷文艺体" panose="02000603000000000000" pitchFamily="2" charset="-122"/>
              <a:cs typeface="阿里巴巴和七个小矮人" panose="00000500000000000000" charset="-122"/>
              <a:sym typeface="方正宝黑体 简 Light" panose="0200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7570" y="5012055"/>
            <a:ext cx="5549900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Segoe UI" panose="020B0502040204020203" charset="0"/>
                <a:sym typeface="+mn-ea"/>
              </a:rPr>
              <a:t>I like </a:t>
            </a:r>
            <a:r>
              <a:rPr lang="en-US" altLang="zh-CN" sz="2800" i="1" u="sng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Segoe UI" panose="020B0502040204020203" charset="0"/>
                <a:sym typeface="+mn-ea"/>
              </a:rPr>
              <a:t>traveling</a:t>
            </a: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Segoe UI" panose="020B0502040204020203" charset="0"/>
                <a:sym typeface="+mn-ea"/>
              </a:rPr>
              <a:t>.</a:t>
            </a:r>
            <a:endParaRPr lang="en-US" altLang="zh-CN" sz="2800" i="1" dirty="0">
              <a:solidFill>
                <a:schemeClr val="bg1">
                  <a:lumMod val="65000"/>
                </a:schemeClr>
              </a:solidFill>
              <a:latin typeface="黑体" panose="02010609060101010101" charset="-122"/>
              <a:ea typeface="黑体" panose="02010609060101010101" charset="-122"/>
              <a:cs typeface="Segoe UI" panose="020B0502040204020203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Segoe UI" panose="020B0502040204020203" charset="0"/>
                <a:sym typeface="+mn-ea"/>
              </a:rPr>
              <a:t>I would appreciate your help.</a:t>
            </a:r>
            <a:endParaRPr lang="en-US" altLang="zh-CN" sz="2800" i="1" dirty="0">
              <a:solidFill>
                <a:schemeClr val="bg1">
                  <a:lumMod val="65000"/>
                </a:schemeClr>
              </a:solidFill>
              <a:latin typeface="黑体" panose="02010609060101010101" charset="-122"/>
              <a:ea typeface="黑体" panose="02010609060101010101" charset="-122"/>
              <a:cs typeface="Segoe UI" panose="020B0502040204020203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5800" y="79692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latin typeface="微软雅黑" panose="020B0503020204020204" charset="-122"/>
                <a:ea typeface="微软雅黑" panose="020B0503020204020204" charset="-122"/>
                <a:cs typeface="Segoe UI" panose="020B0502040204020203" charset="0"/>
                <a:sym typeface="方正宝黑体 简 Light" panose="02000400000000000000" charset="-122"/>
              </a:rPr>
              <a:t>④</a:t>
            </a:r>
            <a:endParaRPr lang="zh-CN" altLang="en-US" sz="5400" dirty="0">
              <a:latin typeface="微软雅黑" panose="020B0503020204020204" charset="-122"/>
              <a:ea typeface="微软雅黑" panose="020B0503020204020204" charset="-122"/>
              <a:cs typeface="Segoe UI" panose="020B0502040204020203" charset="0"/>
              <a:sym typeface="方正宝黑体 简 Light" panose="0200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6781800" y="0"/>
            <a:ext cx="5410200" cy="685800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" cstate="screen"/>
            <a:srcRect/>
            <a:stretch>
              <a:fillRect l="-72113" r="-192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4615" y="2496820"/>
            <a:ext cx="6332855" cy="15684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(   F   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が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好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す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きです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lang="en-US" altLang="zh-CN"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ja-JP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よろしくお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願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ねが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r>
              <a:rPr lang="ja-JP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いします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lang="zh-CN" altLang="en-US" sz="3200" dirty="0">
              <a:latin typeface="站酷文艺体" panose="02000603000000000000" pitchFamily="2" charset="-122"/>
              <a:ea typeface="站酷文艺体" panose="02000603000000000000" pitchFamily="2" charset="-122"/>
              <a:cs typeface="阿里巴巴和七个小矮人" panose="00000500000000000000" charset="-122"/>
              <a:sym typeface="方正宝黑体 简 Light" panose="0200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7570" y="5012055"/>
            <a:ext cx="5550535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Segoe UI" panose="020B0502040204020203" charset="0"/>
                <a:sym typeface="+mn-ea"/>
              </a:rPr>
              <a:t>I like (   F   ).</a:t>
            </a:r>
            <a:endParaRPr lang="en-US" altLang="zh-CN" sz="2800" i="1" dirty="0">
              <a:solidFill>
                <a:schemeClr val="bg1">
                  <a:lumMod val="65000"/>
                </a:schemeClr>
              </a:solidFill>
              <a:latin typeface="黑体" panose="02010609060101010101" charset="-122"/>
              <a:ea typeface="黑体" panose="02010609060101010101" charset="-122"/>
              <a:cs typeface="Segoe UI" panose="020B0502040204020203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800" i="1" dirty="0">
                <a:solidFill>
                  <a:schemeClr val="bg1">
                    <a:lumMod val="6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Segoe UI" panose="020B0502040204020203" charset="0"/>
                <a:sym typeface="+mn-ea"/>
              </a:rPr>
              <a:t>I would appreciate your help.</a:t>
            </a:r>
            <a:endParaRPr lang="en-US" altLang="zh-CN" sz="2800" i="1" dirty="0">
              <a:solidFill>
                <a:schemeClr val="bg1">
                  <a:lumMod val="65000"/>
                </a:schemeClr>
              </a:solidFill>
              <a:latin typeface="黑体" panose="02010609060101010101" charset="-122"/>
              <a:ea typeface="黑体" panose="02010609060101010101" charset="-122"/>
              <a:cs typeface="Segoe UI" panose="020B0502040204020203" charset="0"/>
            </a:endParaRPr>
          </a:p>
          <a:p>
            <a:pPr>
              <a:lnSpc>
                <a:spcPct val="120000"/>
              </a:lnSpc>
            </a:pPr>
            <a:endParaRPr lang="en-US" altLang="zh-CN" sz="2800" i="1" dirty="0">
              <a:solidFill>
                <a:schemeClr val="bg1">
                  <a:lumMod val="65000"/>
                </a:schemeClr>
              </a:solidFill>
              <a:latin typeface="黑体" panose="02010609060101010101" charset="-122"/>
              <a:ea typeface="黑体" panose="02010609060101010101" charset="-122"/>
              <a:cs typeface="Segoe UI" panose="020B0502040204020203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5925" y="796925"/>
            <a:ext cx="63658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latin typeface="微软雅黑" panose="020B0503020204020204" charset="-122"/>
                <a:ea typeface="微软雅黑" panose="020B0503020204020204" charset="-122"/>
                <a:cs typeface="Segoe UI" panose="020B0502040204020203" charset="0"/>
                <a:sym typeface="方正宝黑体 简 Light" panose="02000400000000000000" charset="-122"/>
              </a:rPr>
              <a:t>④</a:t>
            </a:r>
            <a:r>
              <a:rPr lang="zh-CN" altLang="en-US" sz="4400">
                <a:latin typeface="Calibri" panose="020F0502020204030204" charset="0"/>
                <a:sym typeface="+mn-ea"/>
              </a:rPr>
              <a:t>練習</a:t>
            </a:r>
            <a:r>
              <a:rPr lang="en-US" altLang="zh-CN" sz="4400">
                <a:latin typeface="Calibri" panose="020F0502020204030204" charset="0"/>
                <a:sym typeface="+mn-ea"/>
              </a:rPr>
              <a:t> /</a:t>
            </a:r>
            <a:r>
              <a:rPr lang="en-US" altLang="zh-CN" sz="5400">
                <a:latin typeface="Calibri" panose="020F0502020204030204" charset="0"/>
                <a:sym typeface="+mn-ea"/>
              </a:rPr>
              <a:t> </a:t>
            </a:r>
            <a:r>
              <a:rPr lang="en-US" altLang="zh-CN" sz="4400" i="1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Practice</a:t>
            </a:r>
            <a:endParaRPr lang="zh-CN" altLang="en-US" sz="5400" dirty="0">
              <a:latin typeface="微软雅黑" panose="020B0503020204020204" charset="-122"/>
              <a:ea typeface="微软雅黑" panose="020B0503020204020204" charset="-122"/>
              <a:cs typeface="Segoe UI" panose="020B0502040204020203" charset="0"/>
              <a:sym typeface="方正宝黑体 简 Light" panose="0200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天空, 自然, 户外, 山&#10;&#10;描述已自动生成"/>
          <p:cNvPicPr>
            <a:picLocks noChangeAspect="1"/>
          </p:cNvPicPr>
          <p:nvPr/>
        </p:nvPicPr>
        <p:blipFill rotWithShape="1">
          <a:blip r:embed="rId1" cstate="screen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>
            <a:off x="0" y="1752600"/>
            <a:ext cx="7829550" cy="346710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230839" y="2472837"/>
            <a:ext cx="7718018" cy="2026626"/>
            <a:chOff x="1230839" y="2304111"/>
            <a:chExt cx="7718018" cy="2026626"/>
          </a:xfrm>
        </p:grpSpPr>
        <p:grpSp>
          <p:nvGrpSpPr>
            <p:cNvPr id="2" name="组合 1"/>
            <p:cNvGrpSpPr/>
            <p:nvPr/>
          </p:nvGrpSpPr>
          <p:grpSpPr>
            <a:xfrm>
              <a:off x="1230839" y="2304111"/>
              <a:ext cx="1501143" cy="2026626"/>
              <a:chOff x="1230839" y="2062964"/>
              <a:chExt cx="1501143" cy="2026626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1230839" y="2062964"/>
                <a:ext cx="150114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9600" dirty="0">
                    <a:latin typeface="方正正黑_GBK" panose="02000000000000000000" charset="-122"/>
                    <a:ea typeface="方正正黑_GBK" panose="02000000000000000000" charset="-122"/>
                    <a:cs typeface="方正超值体 简 Light" panose="02010600010101010101" charset="-122"/>
                  </a:rPr>
                  <a:t>03</a:t>
                </a:r>
                <a:endParaRPr lang="zh-CN" altLang="en-US" sz="9600" dirty="0">
                  <a:latin typeface="方正正黑_GBK" panose="02000000000000000000" charset="-122"/>
                  <a:ea typeface="方正正黑_GBK" panose="02000000000000000000" charset="-122"/>
                  <a:cs typeface="方正超值体 简 Light" panose="02010600010101010101" charset="-122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1386335" y="3632624"/>
                <a:ext cx="1257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1393238" y="3751044"/>
                <a:ext cx="1243494" cy="338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600" dirty="0">
                    <a:latin typeface="方正超值体 简 Light" panose="02010600010101010101" charset="-122"/>
                    <a:ea typeface="方正超值体 简 Light" panose="02010600010101010101" charset="-122"/>
                    <a:cs typeface="方正超值体 简 Light" panose="02010600010101010101" charset="-122"/>
                  </a:rPr>
                  <a:t>THREE</a:t>
                </a:r>
                <a:endParaRPr lang="zh-CN" altLang="en-US" sz="1600" dirty="0">
                  <a:latin typeface="方正超值体 简 Light" panose="02010600010101010101" charset="-122"/>
                  <a:ea typeface="方正超值体 简 Light" panose="02010600010101010101" charset="-122"/>
                  <a:cs typeface="方正超值体 简 Light" panose="02010600010101010101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463092" y="2875992"/>
              <a:ext cx="5485765" cy="1203960"/>
              <a:chOff x="4789898" y="1372037"/>
              <a:chExt cx="5485765" cy="1203960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4789898" y="1372037"/>
                <a:ext cx="5485765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latin typeface="站酷文艺体" panose="02000603000000000000" pitchFamily="2" charset="-122"/>
                    <a:ea typeface="站酷文艺体" panose="02000603000000000000" pitchFamily="2" charset="-122"/>
                    <a:cs typeface="阿里巴巴和七个小矮人" panose="00000500000000000000" charset="-122"/>
                  </a:rPr>
                  <a:t> </a:t>
                </a:r>
                <a:r>
                  <a:rPr lang="zh-CN" altLang="en-US" sz="4400" dirty="0">
                    <a:latin typeface="Segoe UI" panose="020B0502040204020203" charset="0"/>
                    <a:ea typeface="黑体" panose="02010609060101010101" charset="-122"/>
                    <a:cs typeface="阿里巴巴和七个小矮人" panose="00000500000000000000" charset="-122"/>
                  </a:rPr>
                  <a:t>相互練習</a:t>
                </a:r>
                <a:endParaRPr lang="zh-CN" altLang="en-US" sz="4400" dirty="0">
                  <a:latin typeface="Segoe UI" panose="020B0502040204020203" charset="0"/>
                  <a:ea typeface="黑体" panose="02010609060101010101" charset="-122"/>
                  <a:cs typeface="阿里巴巴和七个小矮人" panose="00000500000000000000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046438" y="2140387"/>
                <a:ext cx="2635885" cy="4356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400" i="1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charset="0"/>
                    <a:ea typeface="站酷文艺体" panose="02000603000000000000" pitchFamily="2" charset="-122"/>
                    <a:cs typeface="Segoe UI" panose="020B0502040204020203" charset="0"/>
                    <a:sym typeface="+mn-ea"/>
                  </a:rPr>
                  <a:t>mutual practice</a:t>
                </a:r>
                <a:endParaRPr lang="en-US" altLang="zh-CN" sz="2400" i="1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charset="0"/>
                  <a:ea typeface="站酷文艺体" panose="02000603000000000000" pitchFamily="2" charset="-122"/>
                  <a:cs typeface="Segoe UI" panose="020B0502040204020203" charset="0"/>
                  <a:sym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天空, 自然, 户外, 山&#10;&#10;描述已自动生成"/>
          <p:cNvPicPr>
            <a:picLocks noChangeAspect="1"/>
          </p:cNvPicPr>
          <p:nvPr/>
        </p:nvPicPr>
        <p:blipFill rotWithShape="1">
          <a:blip r:embed="rId1" cstate="screen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>
            <a:off x="0" y="772160"/>
            <a:ext cx="10970895" cy="5371465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85750" y="1036320"/>
            <a:ext cx="66084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方正超值体 简 Light" panose="02010600010101010101" charset="-122"/>
              </a:rPr>
              <a:t>自己紹介（</a:t>
            </a:r>
            <a:r>
              <a:rPr lang="ja-JP" altLang="en-US" sz="4000" dirty="0">
                <a:latin typeface="微软雅黑" panose="020B0503020204020204" charset="-122"/>
                <a:ea typeface="微软雅黑" panose="020B0503020204020204" charset="-122"/>
                <a:cs typeface="方正超值体 简 Light" panose="02010600010101010101" charset="-122"/>
              </a:rPr>
              <a:t>じこしょうかい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方正超值体 简 Light" panose="02010600010101010101" charset="-122"/>
              </a:rPr>
              <a:t>）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  <a:cs typeface="方正超值体 简 Light" panose="02010600010101010101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436776" y="1828990"/>
            <a:ext cx="6619240" cy="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94385" y="2235835"/>
            <a:ext cx="93821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初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はじ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めまして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   A   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です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r>
              <a:rPr lang="en-US" altLang="ja-JP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   B   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から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き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ました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   C   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に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日本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にほん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に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き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て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、今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いま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は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京都情報大学院大学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きょうとじょうほうだいがくいんだいがく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の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留学生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りゅうがくせい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です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日本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にほん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の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en-US" altLang="ja-JP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     D    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は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私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わたし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の</a:t>
            </a:r>
            <a:r>
              <a:rPr lang="zh-CN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国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くに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より</a:t>
            </a:r>
            <a:r>
              <a:rPr lang="en-US" altLang="zh-CN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(    E    )</a:t>
            </a:r>
            <a:r>
              <a:rPr lang="ja-JP" altLang="en-US" sz="2400" dirty="0">
                <a:latin typeface="Segoe UI" panose="020B0502040204020203" charset="0"/>
                <a:ea typeface="黑体" panose="02010609060101010101" charset="-122"/>
                <a:cs typeface="Segoe UI" panose="020B0502040204020203" charset="0"/>
                <a:sym typeface="方正宝黑体 简 Light" panose="02000400000000000000" charset="-122"/>
              </a:rPr>
              <a:t>です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   F   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が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好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す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きです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en-US" altLang="ja-JP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よろしくお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願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ねが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ja-JP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いします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3700" y="5257165"/>
            <a:ext cx="9088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i="1">
                <a:solidFill>
                  <a:schemeClr val="bg1">
                    <a:lumMod val="50000"/>
                  </a:schemeClr>
                </a:solidFill>
              </a:rPr>
              <a:t>Please choose the correct words you have learned according to instructions A–F, and practice expressing them with your deskmate.</a:t>
            </a:r>
            <a:endParaRPr lang="en-US" altLang="zh-CN" sz="2000" i="1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天空, 自然, 户外, 山&#10;&#10;描述已自动生成"/>
          <p:cNvPicPr>
            <a:picLocks noChangeAspect="1"/>
          </p:cNvPicPr>
          <p:nvPr/>
        </p:nvPicPr>
        <p:blipFill rotWithShape="1">
          <a:blip r:embed="rId1" cstate="screen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>
            <a:off x="0" y="1752600"/>
            <a:ext cx="7829550" cy="3467100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230839" y="2472837"/>
            <a:ext cx="5424398" cy="2029841"/>
            <a:chOff x="1230839" y="2304111"/>
            <a:chExt cx="5424398" cy="2029841"/>
          </a:xfrm>
        </p:grpSpPr>
        <p:grpSp>
          <p:nvGrpSpPr>
            <p:cNvPr id="2" name="组合 1"/>
            <p:cNvGrpSpPr/>
            <p:nvPr/>
          </p:nvGrpSpPr>
          <p:grpSpPr>
            <a:xfrm>
              <a:off x="1230839" y="2304111"/>
              <a:ext cx="1501143" cy="2026626"/>
              <a:chOff x="1230839" y="2062964"/>
              <a:chExt cx="1501143" cy="2026626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1230839" y="2062964"/>
                <a:ext cx="150114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9600" dirty="0">
                    <a:latin typeface="方正正黑_GBK" panose="02000000000000000000" charset="-122"/>
                    <a:ea typeface="方正正黑_GBK" panose="02000000000000000000" charset="-122"/>
                    <a:cs typeface="方正超值体 简 Light" panose="02010600010101010101" charset="-122"/>
                  </a:rPr>
                  <a:t>04</a:t>
                </a:r>
                <a:endParaRPr lang="zh-CN" altLang="en-US" sz="9600" dirty="0">
                  <a:latin typeface="方正正黑_GBK" panose="02000000000000000000" charset="-122"/>
                  <a:ea typeface="方正正黑_GBK" panose="02000000000000000000" charset="-122"/>
                  <a:cs typeface="方正超值体 简 Light" panose="02010600010101010101" charset="-122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1386335" y="3632624"/>
                <a:ext cx="1257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1393238" y="3751044"/>
                <a:ext cx="1243494" cy="338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600" dirty="0">
                    <a:latin typeface="方正超值体 简 Light" panose="02010600010101010101" charset="-122"/>
                    <a:ea typeface="方正超值体 简 Light" panose="02010600010101010101" charset="-122"/>
                    <a:cs typeface="方正超值体 简 Light" panose="02010600010101010101" charset="-122"/>
                  </a:rPr>
                  <a:t>FOUR</a:t>
                </a:r>
                <a:endParaRPr lang="zh-CN" altLang="en-US" sz="1600" dirty="0">
                  <a:latin typeface="方正超值体 简 Light" panose="02010600010101010101" charset="-122"/>
                  <a:ea typeface="方正超值体 简 Light" panose="02010600010101010101" charset="-122"/>
                  <a:cs typeface="方正超值体 简 Light" panose="02010600010101010101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348157" y="3105227"/>
              <a:ext cx="3307080" cy="1228725"/>
              <a:chOff x="4674963" y="1601272"/>
              <a:chExt cx="3307080" cy="1228725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4674963" y="1601272"/>
                <a:ext cx="3146345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dirty="0">
                    <a:latin typeface="Segoe UI" panose="020B0502040204020203" charset="0"/>
                    <a:ea typeface="黑体" panose="02010609060101010101" charset="-122"/>
                    <a:cs typeface="Segoe UI" panose="020B0502040204020203" charset="0"/>
                  </a:rPr>
                  <a:t>発表</a:t>
                </a:r>
                <a:r>
                  <a:rPr lang="ja-JP" altLang="en-US" sz="4400" dirty="0">
                    <a:latin typeface="Segoe UI" panose="020B0502040204020203" charset="0"/>
                    <a:ea typeface="黑体" panose="02010609060101010101" charset="-122"/>
                    <a:cs typeface="Segoe UI" panose="020B0502040204020203" charset="0"/>
                  </a:rPr>
                  <a:t>の</a:t>
                </a:r>
                <a:r>
                  <a:rPr lang="zh-CN" altLang="en-US" sz="4400" dirty="0">
                    <a:latin typeface="Segoe UI" panose="020B0502040204020203" charset="0"/>
                    <a:ea typeface="黑体" panose="02010609060101010101" charset="-122"/>
                    <a:cs typeface="Segoe UI" panose="020B0502040204020203" charset="0"/>
                  </a:rPr>
                  <a:t>時間</a:t>
                </a:r>
                <a:r>
                  <a:rPr lang="en-US" altLang="zh-CN" sz="4400" dirty="0">
                    <a:latin typeface="Segoe UI" panose="020B0502040204020203" charset="0"/>
                    <a:ea typeface="黑体" panose="02010609060101010101" charset="-122"/>
                    <a:cs typeface="Segoe UI" panose="020B0502040204020203" charset="0"/>
                  </a:rPr>
                  <a:t> </a:t>
                </a:r>
                <a:endParaRPr lang="zh-CN" altLang="en-US" sz="4400" dirty="0">
                  <a:latin typeface="Segoe UI" panose="020B0502040204020203" charset="0"/>
                  <a:ea typeface="黑体" panose="02010609060101010101" charset="-122"/>
                  <a:cs typeface="Segoe UI" panose="020B0502040204020203" charset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911183" y="2369622"/>
                <a:ext cx="307086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charset="0"/>
                    <a:ea typeface="站酷文艺体" panose="02000603000000000000" pitchFamily="2" charset="-122"/>
                    <a:cs typeface="Segoe UI" panose="020B0502040204020203" charset="0"/>
                    <a:sym typeface="+mn-ea"/>
                  </a:rPr>
                  <a:t>presentation time</a:t>
                </a:r>
                <a:endParaRPr lang="en-US" altLang="zh-CN" sz="2400" i="1" spc="3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charset="0"/>
                  <a:ea typeface="站酷文艺体" panose="02000603000000000000" pitchFamily="2" charset="-122"/>
                  <a:cs typeface="Segoe UI" panose="020B0502040204020203" charset="0"/>
                  <a:sym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天空, 自然, 户外, 山&#10;&#10;描述已自动生成"/>
          <p:cNvPicPr>
            <a:picLocks noChangeAspect="1"/>
          </p:cNvPicPr>
          <p:nvPr/>
        </p:nvPicPr>
        <p:blipFill rotWithShape="1">
          <a:blip r:embed="rId1" cstate="screen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>
            <a:off x="5581650" y="1790699"/>
            <a:ext cx="6610350" cy="3200401"/>
          </a:xfrm>
          <a:custGeom>
            <a:avLst/>
            <a:gdLst>
              <a:gd name="connsiteX0" fmla="*/ 0 w 3858228"/>
              <a:gd name="connsiteY0" fmla="*/ 0 h 6858000"/>
              <a:gd name="connsiteX1" fmla="*/ 3858228 w 3858228"/>
              <a:gd name="connsiteY1" fmla="*/ 0 h 6858000"/>
              <a:gd name="connsiteX2" fmla="*/ 3858228 w 3858228"/>
              <a:gd name="connsiteY2" fmla="*/ 6858000 h 6858000"/>
              <a:gd name="connsiteX3" fmla="*/ 0 w 38582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8228" h="6858000">
                <a:moveTo>
                  <a:pt x="0" y="0"/>
                </a:moveTo>
                <a:lnTo>
                  <a:pt x="3858228" y="0"/>
                </a:lnTo>
                <a:lnTo>
                  <a:pt x="385822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32475" y="2729865"/>
            <a:ext cx="6108065" cy="13220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altLang="zh-CN" sz="4000" dirty="0">
                <a:latin typeface="Comic Sans MS" panose="030F0702030302020204" charset="0"/>
                <a:ea typeface="站酷文艺体" panose="02000603000000000000" pitchFamily="2" charset="-122"/>
                <a:cs typeface="Comic Sans MS" panose="030F0702030302020204" charset="0"/>
                <a:sym typeface="方正宝黑体 简 Light" panose="02000400000000000000" charset="-122"/>
              </a:rPr>
              <a:t>Awesome work, everyone! </a:t>
            </a:r>
            <a:endParaRPr lang="en-US" altLang="zh-CN" sz="4000" dirty="0">
              <a:latin typeface="Comic Sans MS" panose="030F0702030302020204" charset="0"/>
              <a:ea typeface="站酷文艺体" panose="02000603000000000000" pitchFamily="2" charset="-122"/>
              <a:cs typeface="Comic Sans MS" panose="030F0702030302020204" charset="0"/>
              <a:sym typeface="方正宝黑体 简 Light" panose="02000400000000000000" charset="-122"/>
            </a:endParaRPr>
          </a:p>
          <a:p>
            <a:pPr algn="ctr"/>
            <a:r>
              <a:rPr lang="en-US" altLang="zh-CN" sz="4000" dirty="0">
                <a:latin typeface="Comic Sans MS" panose="030F0702030302020204" charset="0"/>
                <a:ea typeface="站酷文艺体" panose="02000603000000000000" pitchFamily="2" charset="-122"/>
                <a:cs typeface="Comic Sans MS" panose="030F0702030302020204" charset="0"/>
                <a:sym typeface="方正宝黑体 简 Light" panose="02000400000000000000" charset="-122"/>
              </a:rPr>
              <a:t>Congrats!</a:t>
            </a:r>
            <a:r>
              <a:rPr lang="en-US" altLang="zh-CN" sz="4000" dirty="0">
                <a:latin typeface="Comic Sans MS" panose="030F0702030302020204" charset="0"/>
                <a:ea typeface="站酷文艺体" panose="02000603000000000000" pitchFamily="2" charset="-122"/>
                <a:cs typeface="Comic Sans MS" panose="030F0702030302020204" charset="0"/>
                <a:sym typeface="方正宝黑体 简 Light" panose="02000400000000000000" charset="-122"/>
              </a:rPr>
              <a:t>( •̀ ω •́ )y</a:t>
            </a:r>
            <a:endParaRPr lang="en-US" altLang="zh-CN" sz="4000" dirty="0">
              <a:latin typeface="Comic Sans MS" panose="030F0702030302020204" charset="0"/>
              <a:ea typeface="站酷文艺体" panose="02000603000000000000" pitchFamily="2" charset="-122"/>
              <a:cs typeface="Comic Sans MS" panose="030F0702030302020204" charset="0"/>
              <a:sym typeface="方正宝黑体 简 Light" panose="0200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657350" y="710176"/>
            <a:ext cx="8877300" cy="5437649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27.0762992125984,&quot;left&quot;:68.25,&quot;top&quot;:142.44094488188975,&quot;width&quot;:823.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3371</Words>
  <Application>WPS 演示</Application>
  <PresentationFormat>宽屏</PresentationFormat>
  <Paragraphs>196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50" baseType="lpstr">
      <vt:lpstr>Arial</vt:lpstr>
      <vt:lpstr>宋体</vt:lpstr>
      <vt:lpstr>Wingdings</vt:lpstr>
      <vt:lpstr>站酷文艺体</vt:lpstr>
      <vt:lpstr>阿里巴巴普惠体</vt:lpstr>
      <vt:lpstr>思源黑体 CN Light</vt:lpstr>
      <vt:lpstr>阿里巴巴普惠体 Light</vt:lpstr>
      <vt:lpstr>文泉驿等宽正黑</vt:lpstr>
      <vt:lpstr>黑体</vt:lpstr>
      <vt:lpstr>阿里巴巴普惠体 Heavy</vt:lpstr>
      <vt:lpstr>等线</vt:lpstr>
      <vt:lpstr>MS PGothic</vt:lpstr>
      <vt:lpstr>微软雅黑</vt:lpstr>
      <vt:lpstr>Arial Unicode MS</vt:lpstr>
      <vt:lpstr>等线 Light</vt:lpstr>
      <vt:lpstr>Calibri</vt:lpstr>
      <vt:lpstr>Segoe UI</vt:lpstr>
      <vt:lpstr>Times New Roman</vt:lpstr>
      <vt:lpstr>阿里巴巴和七个小矮人</vt:lpstr>
      <vt:lpstr>方正宝黑体 简 Light</vt:lpstr>
      <vt:lpstr>方正超值体 简 Light</vt:lpstr>
      <vt:lpstr>方正正黑_GBK</vt:lpstr>
      <vt:lpstr>方正健力体 简 Heavy</vt:lpstr>
      <vt:lpstr>Yu Gothic</vt:lpstr>
      <vt:lpstr>Comic Sans MS</vt:lpstr>
      <vt:lpstr>Symbol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国城 俞</dc:creator>
  <cp:lastModifiedBy>静静</cp:lastModifiedBy>
  <cp:revision>26</cp:revision>
  <dcterms:created xsi:type="dcterms:W3CDTF">2019-09-11T08:03:00Z</dcterms:created>
  <dcterms:modified xsi:type="dcterms:W3CDTF">2025-12-16T15:20:17Z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717764D2FA09487D9E2BE62A48CA102F_11</vt:lpwstr>
  </property>
  <property fmtid="{D5CDD505-2E9C-101B-9397-08002B2CF9AE}" pid="3" name="KSOProductBuildVer">
    <vt:lpwstr>2052-12.1.0.23542</vt:lpwstr>
  </property>
  <property fmtid="{D5CDD505-2E9C-101B-9397-08002B2CF9AE}" pid="4" name="KSOTemplateUUID">
    <vt:lpwstr>v1.0_mb_rglb0gZ3sYki6v0VjuU1YQ==</vt:lpwstr>
  </property>
</Properties>
</file>